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b="1">
          <a:solidFill>
            <a:srgbClr val="003366"/>
          </a:solidFill>
          <a:latin typeface="Calibri"/>
        </a:defRPr>
      </a:lvl1pPr>
    </p:titleStyle>
    <p:bodyStyle>
      <a:lvl1pPr>
        <a:defRPr sz="1800">
          <a:solidFill>
            <a:srgbClr val="003366"/>
          </a:solidFill>
          <a:latin typeface="Calibri"/>
        </a:defRPr>
      </a:lvl1pPr>
    </p:bodyStyle>
    <p:otherStyle>
      <a:defPPr>
        <a:defRPr lang="ru-RU"/>
      </a:def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BFA46F"/>
          </a:solidFill>
          <a:ln>
            <a:noFill/>
          </a:ln>
        </p:spPr>
        <p:txBody>
          <a:bodyPr wrap="square" anchor="t" anchorCtr="0" lIns="91440" tIns="91440" rIns="91440" bIns="91440"/>
          <a:lstStyle/>
        </p:txBody>
      </p:sp>
      <p:sp>
        <p:nvSpPr>
          <p:cNvPr id="11" name="VuzHeader"/>
          <p:cNvSpPr/>
          <p:nvPr/>
        </p:nvSpPr>
        <p:spPr>
          <a:xfrm>
            <a:off x="457200" y="457200"/>
            <a:ext cx="1124712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400" b="0" dirty="0">
                <a:solidFill>
                  <a:srgbClr val="7F7F7F"/>
                </a:solidFill>
                <a:latin typeface="Calibri"/>
              </a:rPr>
              <a:t>МИНОБРНАУКИ РОССИЙСКОЙ ФЕДЕРАЦИИ</a:t>
            </a:r>
          </a:p>
          <a:p>
            <a:pPr algn="ctr">
              <a:buNone/>
            </a:pPr>
            <a:r>
              <a:rPr lang="ru-RU" sz="1800" b="1" dirty="0">
                <a:solidFill>
                  <a:srgbClr val="003366"/>
                </a:solidFill>
                <a:latin typeface="Calibri"/>
              </a:rPr>
              <a:t>[ПОЛНОЕ НАЗВАНИЕ ВУЗА]</a:t>
            </a:r>
          </a:p>
          <a:p>
            <a:pPr algn="ctr">
              <a:buNone/>
            </a:pPr>
            <a:r>
              <a:rPr lang="ru-RU" sz="1400" b="0" dirty="0">
                <a:solidFill>
                  <a:srgbClr val="003366"/>
                </a:solidFill>
                <a:latin typeface="Calibri"/>
              </a:rPr>
              <a:t>Институт экономики, управления и финансов</a:t>
            </a:r>
          </a:p>
          <a:p>
            <a:pPr algn="ctr">
              <a:buNone/>
            </a:pPr>
            <a:r>
              <a:rPr lang="ru-RU" sz="1400" b="0" dirty="0">
                <a:solidFill>
                  <a:srgbClr val="003366"/>
                </a:solidFill>
                <a:latin typeface="Calibri"/>
              </a:rPr>
              <a:t>Кафедра [название кафедры]</a:t>
            </a:r>
          </a:p>
        </p:txBody>
      </p:sp>
      <p:sp>
        <p:nvSpPr>
          <p:cNvPr id="12" name="Sep1"/>
          <p:cNvSpPr/>
          <p:nvPr/>
        </p:nvSpPr>
        <p:spPr>
          <a:xfrm>
            <a:off x="2743200" y="1828800"/>
            <a:ext cx="6675120" cy="45720"/>
          </a:xfrm>
          <a:prstGeom prst="rect">
            <a:avLst/>
          </a:prstGeom>
          <a:solidFill>
            <a:srgbClr val="BFA46F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00" b="0" dirty="0">
                <a:solidFill>
                  <a:srgbClr val="003366"/>
                </a:solidFill>
                <a:latin typeface="Calibri"/>
              </a:rPr>
              <a:t/>
            </a:r>
          </a:p>
        </p:txBody>
      </p:sp>
      <p:sp>
        <p:nvSpPr>
          <p:cNvPr id="13" name="DocType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2000" b="1" dirty="0">
                <a:solidFill>
                  <a:srgbClr val="003366"/>
                </a:solidFill>
                <a:latin typeface="Calibri"/>
              </a:rPr>
              <a:t>ВЫПУСКНАЯ КВАЛИФИКАЦИОННАЯ РАБОТА</a:t>
            </a:r>
          </a:p>
        </p:txBody>
      </p:sp>
      <p:sp>
        <p:nvSpPr>
          <p:cNvPr id="14" name="Theme"/>
          <p:cNvSpPr/>
          <p:nvPr/>
        </p:nvSpPr>
        <p:spPr>
          <a:xfrm>
            <a:off x="731520" y="2743200"/>
            <a:ext cx="10698480" cy="1828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400" b="0" dirty="0">
                <a:solidFill>
                  <a:srgbClr val="7F7F7F"/>
                </a:solidFill>
                <a:latin typeface="Calibri"/>
              </a:rPr>
              <a:t>Тема:</a:t>
            </a:r>
          </a:p>
          <a:p>
            <a:pPr algn="ctr">
              <a:buNone/>
            </a:pPr>
            <a:r>
              <a:rPr lang="ru-RU" sz="2400" b="1" dirty="0">
                <a:solidFill>
                  <a:srgbClr val="FFFFFF"/>
                </a:solidFill>
                <a:latin typeface="Calibri"/>
              </a:rPr>
              <a:t>«Разработка стратегии продвижения</a:t>
            </a:r>
          </a:p>
          <a:p>
            <a:pPr algn="ctr">
              <a:buNone/>
            </a:pPr>
            <a:r>
              <a:rPr lang="ru-RU" sz="2400" b="1" dirty="0">
                <a:solidFill>
                  <a:srgbClr val="FFFFFF"/>
                </a:solidFill>
                <a:latin typeface="Calibri"/>
              </a:rPr>
              <a:t>инновационного продукта Face2</a:t>
            </a:r>
          </a:p>
          <a:p>
            <a:pPr algn="ctr">
              <a:buNone/>
            </a:pPr>
            <a:r>
              <a:rPr lang="ru-RU" sz="2400" b="1" dirty="0">
                <a:solidFill>
                  <a:srgbClr val="BFA46F"/>
                </a:solidFill>
                <a:latin typeface="Calibri"/>
              </a:rPr>
              <a:t>ПАО „АК БАРС“ БАНК»</a:t>
            </a:r>
          </a:p>
        </p:txBody>
      </p:sp>
      <p:sp>
        <p:nvSpPr>
          <p:cNvPr id="15" name="Author"/>
          <p:cNvSpPr/>
          <p:nvPr/>
        </p:nvSpPr>
        <p:spPr>
          <a:xfrm>
            <a:off x="731520" y="4937760"/>
            <a:ext cx="521208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7F7F7F"/>
                </a:solidFill>
                <a:latin typeface="Calibri"/>
              </a:rPr>
              <a:t>Выполнил(а):</a:t>
            </a:r>
          </a:p>
          <a:p>
            <a:r>
              <a:rPr lang="ru-RU" sz="1400" b="0" dirty="0">
                <a:solidFill>
                  <a:srgbClr val="003366"/>
                </a:solidFill>
                <a:latin typeface="Calibri"/>
              </a:rPr>
              <a:t>студент(ка) группы [______]</a:t>
            </a:r>
          </a:p>
          <a:p>
            <a:r>
              <a:rPr lang="ru-RU" sz="1400" b="0" dirty="0">
                <a:solidFill>
                  <a:srgbClr val="003366"/>
                </a:solidFill>
                <a:latin typeface="Calibri"/>
              </a:rPr>
              <a:t>[Фамилия Имя Отчество]</a:t>
            </a:r>
          </a:p>
        </p:txBody>
      </p:sp>
      <p:sp>
        <p:nvSpPr>
          <p:cNvPr id="16" name="Supervisor"/>
          <p:cNvSpPr/>
          <p:nvPr/>
        </p:nvSpPr>
        <p:spPr>
          <a:xfrm>
            <a:off x="6217920" y="4937760"/>
            <a:ext cx="521208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7F7F7F"/>
                </a:solidFill>
                <a:latin typeface="Calibri"/>
              </a:rPr>
              <a:t>Научный руководитель:</a:t>
            </a:r>
          </a:p>
          <a:p>
            <a:r>
              <a:rPr lang="ru-RU" sz="1400" b="0" dirty="0">
                <a:solidFill>
                  <a:srgbClr val="003366"/>
                </a:solidFill>
                <a:latin typeface="Calibri"/>
              </a:rPr>
              <a:t>[уч. степень, должность]</a:t>
            </a:r>
          </a:p>
          <a:p>
            <a:r>
              <a:rPr lang="ru-RU" sz="1400" b="0" dirty="0">
                <a:solidFill>
                  <a:srgbClr val="003366"/>
                </a:solidFill>
                <a:latin typeface="Calibri"/>
              </a:rPr>
              <a:t>[Фамилия Имя Отчество]</a:t>
            </a:r>
          </a:p>
        </p:txBody>
      </p:sp>
      <p:sp>
        <p:nvSpPr>
          <p:cNvPr id="17" name="City"/>
          <p:cNvSpPr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400" b="1" dirty="0">
                <a:solidFill>
                  <a:srgbClr val="003366"/>
                </a:solidFill>
                <a:latin typeface="Calibri"/>
              </a:rPr>
              <a:t>Казань,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Header_2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2800" b="1" dirty="0">
                <a:solidFill>
                  <a:srgbClr val="FFFFFF"/>
                </a:solidFill>
                <a:latin typeface="Calibri"/>
              </a:rPr>
              <a:t>Актуальность исследования</a:t>
            </a:r>
          </a:p>
        </p:txBody>
      </p:sp>
      <p:sp>
        <p:nvSpPr>
          <p:cNvPr id="220" name="PageNum_2"/>
          <p:cNvSpPr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pPr algn="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2 / 10</a:t>
            </a:r>
          </a:p>
        </p:txBody>
      </p:sp>
      <p:sp>
        <p:nvSpPr>
          <p:cNvPr id="300" name="Card0"/>
          <p:cNvSpPr/>
          <p:nvPr/>
        </p:nvSpPr>
        <p:spPr>
          <a:xfrm>
            <a:off x="365760" y="1188720"/>
            <a:ext cx="3611880" cy="4937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Calibri"/>
              </a:rPr>
              <a:t>1. РОСТ РЫНКА</a:t>
            </a:r>
          </a:p>
          <a:p>
            <a:r>
              <a:rPr lang="ru-RU" sz="8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4400" b="1" dirty="0">
                <a:solidFill>
                  <a:srgbClr val="BFA46F"/>
                </a:solidFill>
                <a:latin typeface="Calibri"/>
              </a:rPr>
              <a:t>145,9 МЛН</a:t>
            </a:r>
          </a:p>
          <a:p>
            <a:pPr algn="ctr">
              <a:buNone/>
            </a:pPr>
            <a:r>
              <a:rPr lang="ru-RU" sz="1400" b="0" dirty="0">
                <a:solidFill>
                  <a:srgbClr val="FFFFFF"/>
                </a:solidFill>
                <a:latin typeface="Calibri"/>
              </a:rPr>
              <a:t>биометрических платежей</a:t>
            </a:r>
          </a:p>
          <a:p>
            <a:r>
              <a:rPr lang="ru-RU" sz="10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1000" b="0" dirty="0">
                <a:solidFill>
                  <a:srgbClr val="FFFFFF"/>
                </a:solidFill>
                <a:latin typeface="Calibri"/>
              </a:rPr>
              <a:t>─────────</a:t>
            </a:r>
          </a:p>
          <a:p>
            <a:r>
              <a:rPr lang="ru-RU" sz="8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× 9 за год</a:t>
            </a:r>
          </a:p>
          <a:p>
            <a:pPr algn="ctr">
              <a:buNone/>
            </a:pPr>
            <a:r>
              <a:rPr lang="ru-RU" sz="1200" b="0" dirty="0">
                <a:solidFill>
                  <a:srgbClr val="FFFFFF"/>
                </a:solidFill>
                <a:latin typeface="Calibri"/>
              </a:rPr>
              <a:t>112,5 млрд ₽ оборот</a:t>
            </a:r>
          </a:p>
          <a:p>
            <a:pPr algn="ctr">
              <a:buNone/>
            </a:pPr>
            <a:r>
              <a:rPr lang="ru-RU" sz="1200" b="0" dirty="0">
                <a:solidFill>
                  <a:srgbClr val="FFFFFF"/>
                </a:solidFill>
                <a:latin typeface="Calibri"/>
              </a:rPr>
              <a:t>10+ млн пользователей в ЕБС</a:t>
            </a:r>
          </a:p>
        </p:txBody>
      </p:sp>
      <p:sp>
        <p:nvSpPr>
          <p:cNvPr id="301" name="Card1"/>
          <p:cNvSpPr/>
          <p:nvPr/>
        </p:nvSpPr>
        <p:spPr>
          <a:xfrm>
            <a:off x="4160520" y="1188720"/>
            <a:ext cx="3611880" cy="4937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Calibri"/>
              </a:rPr>
              <a:t>2. УЖЕСТОЧЕНИЕ ЗАКОНА</a:t>
            </a:r>
          </a:p>
          <a:p>
            <a:r>
              <a:rPr lang="ru-RU" sz="8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4400" b="1" dirty="0">
                <a:solidFill>
                  <a:srgbClr val="BFA46F"/>
                </a:solidFill>
                <a:latin typeface="Calibri"/>
              </a:rPr>
              <a:t>20 МЛН ₽</a:t>
            </a:r>
          </a:p>
          <a:p>
            <a:pPr algn="ctr">
              <a:buNone/>
            </a:pPr>
            <a:r>
              <a:rPr lang="ru-RU" sz="1400" b="0" dirty="0">
                <a:solidFill>
                  <a:srgbClr val="FFFFFF"/>
                </a:solidFill>
                <a:latin typeface="Calibri"/>
              </a:rPr>
              <a:t>штраф по КоАП</a:t>
            </a:r>
          </a:p>
          <a:p>
            <a:r>
              <a:rPr lang="ru-RU" sz="10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1000" b="0" dirty="0">
                <a:solidFill>
                  <a:srgbClr val="FFFFFF"/>
                </a:solidFill>
                <a:latin typeface="Calibri"/>
              </a:rPr>
              <a:t>─────────</a:t>
            </a:r>
          </a:p>
          <a:p>
            <a:r>
              <a:rPr lang="ru-RU" sz="8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до 5 лет тюрьмы</a:t>
            </a:r>
          </a:p>
          <a:p>
            <a:pPr algn="ctr">
              <a:buNone/>
            </a:pPr>
            <a:r>
              <a:rPr lang="ru-RU" sz="1200" b="0" dirty="0">
                <a:solidFill>
                  <a:srgbClr val="FFFFFF"/>
                </a:solidFill>
                <a:latin typeface="Calibri"/>
              </a:rPr>
              <a:t>572-ФЗ + 420-ФЗ + 421-ФЗ</a:t>
            </a:r>
          </a:p>
          <a:p>
            <a:pPr algn="ctr">
              <a:buNone/>
            </a:pPr>
            <a:r>
              <a:rPr lang="ru-RU" sz="1200" b="0" dirty="0">
                <a:solidFill>
                  <a:srgbClr val="FFFFFF"/>
                </a:solidFill>
                <a:latin typeface="Calibri"/>
              </a:rPr>
              <a:t>только аккредитованные</a:t>
            </a:r>
          </a:p>
        </p:txBody>
      </p:sp>
      <p:sp>
        <p:nvSpPr>
          <p:cNvPr id="302" name="Card2"/>
          <p:cNvSpPr/>
          <p:nvPr/>
        </p:nvSpPr>
        <p:spPr>
          <a:xfrm>
            <a:off x="7955280" y="1188720"/>
            <a:ext cx="3611880" cy="4937760"/>
          </a:xfrm>
          <a:prstGeom prst="rect">
            <a:avLst/>
          </a:prstGeom>
          <a:solidFill>
            <a:srgbClr val="BFA46F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Calibri"/>
              </a:rPr>
              <a:t>3. КОНКУРЕНЦИЯ</a:t>
            </a:r>
          </a:p>
          <a:p>
            <a:r>
              <a:rPr lang="ru-RU" sz="8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4400" b="1" dirty="0">
                <a:solidFill>
                  <a:srgbClr val="FFFFFF"/>
                </a:solidFill>
                <a:latin typeface="Calibri"/>
              </a:rPr>
              <a:t>700 ТЫС.</a:t>
            </a:r>
          </a:p>
          <a:p>
            <a:pPr algn="ctr">
              <a:buNone/>
            </a:pPr>
            <a:r>
              <a:rPr lang="ru-RU" sz="1400" b="0" dirty="0">
                <a:solidFill>
                  <a:srgbClr val="FFFFFF"/>
                </a:solidFill>
                <a:latin typeface="Calibri"/>
              </a:rPr>
              <a:t>терминалов у Сбера</a:t>
            </a:r>
          </a:p>
          <a:p>
            <a:r>
              <a:rPr lang="ru-RU" sz="10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1000" b="0" dirty="0">
                <a:solidFill>
                  <a:srgbClr val="FFFFFF"/>
                </a:solidFill>
                <a:latin typeface="Calibri"/>
              </a:rPr>
              <a:t>─────────</a:t>
            </a:r>
          </a:p>
          <a:p>
            <a:r>
              <a:rPr lang="ru-RU" sz="8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30 млн его клиентов</a:t>
            </a:r>
          </a:p>
          <a:p>
            <a:pPr algn="ctr">
              <a:buNone/>
            </a:pPr>
            <a:r>
              <a:rPr lang="ru-RU" sz="1200" b="0" dirty="0">
                <a:solidFill>
                  <a:srgbClr val="FFFFFF"/>
                </a:solidFill>
                <a:latin typeface="Calibri"/>
              </a:rPr>
              <a:t>VisionLabs · NtechLab · OVISION</a:t>
            </a:r>
          </a:p>
          <a:p>
            <a:pPr algn="ctr">
              <a:buNone/>
            </a:pPr>
            <a:r>
              <a:rPr lang="ru-RU" sz="1200" b="0" dirty="0">
                <a:solidFill>
                  <a:srgbClr val="FFFFFF"/>
                </a:solidFill>
                <a:latin typeface="Calibri"/>
              </a:rPr>
              <a:t>Face2: точность 99,5 %</a:t>
            </a:r>
          </a:p>
        </p:txBody>
      </p:sp>
      <p:sp>
        <p:nvSpPr>
          <p:cNvPr id="390" name="Sources"/>
          <p:cNvSpPr/>
          <p:nvPr/>
        </p:nvSpPr>
        <p:spPr>
          <a:xfrm>
            <a:off x="365760" y="626364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000" b="0" dirty="0">
                <a:solidFill>
                  <a:srgbClr val="7F7F7F"/>
                </a:solidFill>
                <a:latin typeface="Calibri"/>
              </a:rPr>
              <a:t>Источники: Банк России (2025); ФЗ № 572-ФЗ; ПАО Сбербанк (2024); face2.ru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Header_3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2800" b="1" dirty="0">
                <a:solidFill>
                  <a:srgbClr val="FFFFFF"/>
                </a:solidFill>
                <a:latin typeface="Calibri"/>
              </a:rPr>
              <a:t>Цель, задачи и методология</a:t>
            </a:r>
          </a:p>
        </p:txBody>
      </p:sp>
      <p:sp>
        <p:nvSpPr>
          <p:cNvPr id="230" name="PageNum_3"/>
          <p:cNvSpPr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pPr algn="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3 / 10</a:t>
            </a:r>
          </a:p>
        </p:txBody>
      </p:sp>
      <p:sp>
        <p:nvSpPr>
          <p:cNvPr id="310" name="Goal"/>
          <p:cNvSpPr/>
          <p:nvPr/>
        </p:nvSpPr>
        <p:spPr>
          <a:xfrm>
            <a:off x="914400" y="1188720"/>
            <a:ext cx="1033272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BFA46F"/>
                </a:solidFill>
                <a:latin typeface="Calibri"/>
              </a:rPr>
              <a:t>ЦЕЛЬ:</a:t>
            </a:r>
          </a:p>
          <a:p>
            <a:r>
              <a:rPr lang="ru-RU" sz="1800" b="1" dirty="0">
                <a:solidFill>
                  <a:srgbClr val="FFFFFF"/>
                </a:solidFill>
                <a:latin typeface="Calibri"/>
              </a:rPr>
              <a:t>разработка стратегии продвижения продукта Face2 ПАО «АК БАРС» БАНК</a:t>
            </a:r>
          </a:p>
        </p:txBody>
      </p:sp>
      <p:sp>
        <p:nvSpPr>
          <p:cNvPr id="320" name="Task1"/>
          <p:cNvSpPr/>
          <p:nvPr/>
        </p:nvSpPr>
        <p:spPr>
          <a:xfrm>
            <a:off x="457200" y="2194560"/>
            <a:ext cx="210312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3600" b="1" dirty="0">
                <a:solidFill>
                  <a:srgbClr val="BFA46F"/>
                </a:solidFill>
                <a:latin typeface="Calibri"/>
              </a:rPr>
              <a:t>1</a:t>
            </a:r>
          </a:p>
          <a:p>
            <a:pPr algn="ctr">
              <a:buNone/>
            </a:pPr>
            <a:r>
              <a:rPr lang="ru-RU" sz="1400" b="1" dirty="0">
                <a:solidFill>
                  <a:srgbClr val="003366"/>
                </a:solidFill>
                <a:latin typeface="Calibri"/>
              </a:rPr>
              <a:t>Теория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маркетинга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инноваций</a:t>
            </a:r>
          </a:p>
        </p:txBody>
      </p:sp>
      <p:sp>
        <p:nvSpPr>
          <p:cNvPr id="321" name="Task2"/>
          <p:cNvSpPr/>
          <p:nvPr/>
        </p:nvSpPr>
        <p:spPr>
          <a:xfrm>
            <a:off x="2651760" y="2194560"/>
            <a:ext cx="210312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3600" b="1" dirty="0">
                <a:solidFill>
                  <a:srgbClr val="BFA46F"/>
                </a:solidFill>
                <a:latin typeface="Calibri"/>
              </a:rPr>
              <a:t>2</a:t>
            </a:r>
          </a:p>
          <a:p>
            <a:pPr algn="ctr">
              <a:buNone/>
            </a:pPr>
            <a:r>
              <a:rPr lang="ru-RU" sz="1400" b="1" dirty="0">
                <a:solidFill>
                  <a:srgbClr val="003366"/>
                </a:solidFill>
                <a:latin typeface="Calibri"/>
              </a:rPr>
              <a:t>Биометрия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специфика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в банках</a:t>
            </a:r>
          </a:p>
        </p:txBody>
      </p:sp>
      <p:sp>
        <p:nvSpPr>
          <p:cNvPr id="322" name="Task3"/>
          <p:cNvSpPr/>
          <p:nvPr/>
        </p:nvSpPr>
        <p:spPr>
          <a:xfrm>
            <a:off x="4846320" y="2194560"/>
            <a:ext cx="210312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3600" b="1" dirty="0">
                <a:solidFill>
                  <a:srgbClr val="BFA46F"/>
                </a:solidFill>
                <a:latin typeface="Calibri"/>
              </a:rPr>
              <a:t>3</a:t>
            </a:r>
          </a:p>
          <a:p>
            <a:pPr algn="ctr">
              <a:buNone/>
            </a:pPr>
            <a:r>
              <a:rPr lang="ru-RU" sz="1400" b="1" dirty="0">
                <a:solidFill>
                  <a:srgbClr val="003366"/>
                </a:solidFill>
                <a:latin typeface="Calibri"/>
              </a:rPr>
              <a:t>Банк и продукт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АК Барс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и Face2</a:t>
            </a:r>
          </a:p>
        </p:txBody>
      </p:sp>
      <p:sp>
        <p:nvSpPr>
          <p:cNvPr id="323" name="Task4"/>
          <p:cNvSpPr/>
          <p:nvPr/>
        </p:nvSpPr>
        <p:spPr>
          <a:xfrm>
            <a:off x="7040880" y="2194560"/>
            <a:ext cx="210312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3600" b="1" dirty="0">
                <a:solidFill>
                  <a:srgbClr val="BFA46F"/>
                </a:solidFill>
                <a:latin typeface="Calibri"/>
              </a:rPr>
              <a:t>4</a:t>
            </a:r>
          </a:p>
          <a:p>
            <a:pPr algn="ctr">
              <a:buNone/>
            </a:pPr>
            <a:r>
              <a:rPr lang="ru-RU" sz="1400" b="1" dirty="0">
                <a:solidFill>
                  <a:srgbClr val="003366"/>
                </a:solidFill>
                <a:latin typeface="Calibri"/>
              </a:rPr>
              <a:t>Аудит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SWOT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и gap-анализ</a:t>
            </a:r>
          </a:p>
        </p:txBody>
      </p:sp>
      <p:sp>
        <p:nvSpPr>
          <p:cNvPr id="324" name="Task5"/>
          <p:cNvSpPr/>
          <p:nvPr/>
        </p:nvSpPr>
        <p:spPr>
          <a:xfrm>
            <a:off x="9235440" y="2194560"/>
            <a:ext cx="210312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3600" b="1" dirty="0">
                <a:solidFill>
                  <a:srgbClr val="BFA46F"/>
                </a:solidFill>
                <a:latin typeface="Calibri"/>
              </a:rPr>
              <a:t>5</a:t>
            </a:r>
          </a:p>
          <a:p>
            <a:pPr algn="ctr">
              <a:buNone/>
            </a:pPr>
            <a:r>
              <a:rPr lang="ru-RU" sz="1400" b="1" dirty="0">
                <a:solidFill>
                  <a:srgbClr val="003366"/>
                </a:solidFill>
                <a:latin typeface="Calibri"/>
              </a:rPr>
              <a:t>Стратегия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и оценка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эффекта</a:t>
            </a:r>
          </a:p>
        </p:txBody>
      </p:sp>
      <p:sp>
        <p:nvSpPr>
          <p:cNvPr id="330" name="Object"/>
          <p:cNvSpPr/>
          <p:nvPr/>
        </p:nvSpPr>
        <p:spPr>
          <a:xfrm>
            <a:off x="457200" y="4023360"/>
            <a:ext cx="54864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200" b="1" dirty="0">
                <a:solidFill>
                  <a:srgbClr val="BFA46F"/>
                </a:solidFill>
                <a:latin typeface="Calibri"/>
              </a:rPr>
              <a:t>ОБЪЕКТ:</a:t>
            </a:r>
          </a:p>
          <a:p>
            <a:r>
              <a:rPr lang="ru-RU" sz="1300" b="0" dirty="0">
                <a:solidFill>
                  <a:srgbClr val="003366"/>
                </a:solidFill>
                <a:latin typeface="Calibri"/>
              </a:rPr>
              <a:t>маркетинговая деятельность банка по продвижению Face2</a:t>
            </a:r>
          </a:p>
        </p:txBody>
      </p:sp>
      <p:sp>
        <p:nvSpPr>
          <p:cNvPr id="331" name="Subject"/>
          <p:cNvSpPr/>
          <p:nvPr/>
        </p:nvSpPr>
        <p:spPr>
          <a:xfrm>
            <a:off x="6126480" y="4023360"/>
            <a:ext cx="557784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200" b="1" dirty="0">
                <a:solidFill>
                  <a:srgbClr val="BFA46F"/>
                </a:solidFill>
                <a:latin typeface="Calibri"/>
              </a:rPr>
              <a:t>ПРЕДМЕТ:</a:t>
            </a:r>
          </a:p>
          <a:p>
            <a:r>
              <a:rPr lang="ru-RU" sz="1300" b="0" dirty="0">
                <a:solidFill>
                  <a:srgbClr val="003366"/>
                </a:solidFill>
                <a:latin typeface="Calibri"/>
              </a:rPr>
              <a:t>инструменты и управленческие отношения стратегии</a:t>
            </a:r>
          </a:p>
        </p:txBody>
      </p:sp>
      <p:sp>
        <p:nvSpPr>
          <p:cNvPr id="332" name="Methods"/>
          <p:cNvSpPr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BFA46F"/>
                </a:solidFill>
                <a:latin typeface="Calibri"/>
              </a:rPr>
              <a:t>МЕТОДОЛОГИЯ:</a:t>
            </a:r>
          </a:p>
          <a:p>
            <a:r>
              <a:rPr lang="ru-RU" sz="1300" b="0" dirty="0">
                <a:solidFill>
                  <a:srgbClr val="003366"/>
                </a:solidFill>
                <a:latin typeface="Calibri"/>
              </a:rPr>
              <a:t>Общенаучные — анализ, синтез, обобщение, сравнение.</a:t>
            </a:r>
          </a:p>
          <a:p>
            <a:r>
              <a:rPr lang="ru-RU" sz="1300" b="0" dirty="0">
                <a:solidFill>
                  <a:srgbClr val="003366"/>
                </a:solidFill>
                <a:latin typeface="Calibri"/>
              </a:rPr>
              <a:t>Специальные — диффузия инноваций Э. Роджерса · STP · 7P · маркетинговая воронка · PESTEL · SWOT · 5 сил М. Портера · финансово-экономический анализ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Header_4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2800" b="1" dirty="0">
                <a:solidFill>
                  <a:srgbClr val="FFFFFF"/>
                </a:solidFill>
                <a:latin typeface="Calibri"/>
              </a:rPr>
              <a:t>Задача 1. Теоретические основы продвижения инноваций</a:t>
            </a:r>
          </a:p>
        </p:txBody>
      </p:sp>
      <p:sp>
        <p:nvSpPr>
          <p:cNvPr id="240" name="PageNum_4"/>
          <p:cNvSpPr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pPr algn="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4 / 10</a:t>
            </a:r>
          </a:p>
        </p:txBody>
      </p:sp>
      <p:sp>
        <p:nvSpPr>
          <p:cNvPr id="410" name="ModelsTitle"/>
          <p:cNvSpPr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600" b="1" dirty="0">
                <a:solidFill>
                  <a:srgbClr val="BFA46F"/>
                </a:solidFill>
                <a:latin typeface="Calibri"/>
              </a:rPr>
              <a:t>ПРИМЕНЁННЫЕ МОДЕЛИ</a:t>
            </a:r>
          </a:p>
        </p:txBody>
      </p:sp>
      <p:sp>
        <p:nvSpPr>
          <p:cNvPr id="411" name="ModelsList"/>
          <p:cNvSpPr/>
          <p:nvPr/>
        </p:nvSpPr>
        <p:spPr>
          <a:xfrm>
            <a:off x="457200" y="1828800"/>
            <a:ext cx="502920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500" b="0" dirty="0">
                <a:solidFill>
                  <a:srgbClr val="003366"/>
                </a:solidFill>
                <a:latin typeface="Calibri"/>
              </a:rPr>
              <a:t>✓ Диффузия инноваций Э. Роджерса</a:t>
            </a:r>
          </a:p>
          <a:p>
            <a:r>
              <a:rPr lang="ru-RU" sz="1500" b="0" dirty="0">
                <a:solidFill>
                  <a:srgbClr val="003366"/>
                </a:solidFill>
                <a:latin typeface="Calibri"/>
              </a:rPr>
              <a:t>✓ STP (сегментация → таргетинг → позиционирование)</a:t>
            </a:r>
          </a:p>
          <a:p>
            <a:r>
              <a:rPr lang="ru-RU" sz="1500" b="0" dirty="0">
                <a:solidFill>
                  <a:srgbClr val="003366"/>
                </a:solidFill>
                <a:latin typeface="Calibri"/>
              </a:rPr>
              <a:t>✓ Расширенный комплекс маркетинга 7P</a:t>
            </a:r>
          </a:p>
          <a:p>
            <a:r>
              <a:rPr lang="ru-RU" sz="1500" b="0" dirty="0">
                <a:solidFill>
                  <a:srgbClr val="003366"/>
                </a:solidFill>
                <a:latin typeface="Calibri"/>
              </a:rPr>
              <a:t>✓ Жизненный цикл инновационного продукта</a:t>
            </a:r>
          </a:p>
          <a:p>
            <a:r>
              <a:rPr lang="ru-RU" sz="1500" b="0" dirty="0">
                <a:solidFill>
                  <a:srgbClr val="003366"/>
                </a:solidFill>
                <a:latin typeface="Calibri"/>
              </a:rPr>
              <a:t>✓ Маркетинговая воронка</a:t>
            </a:r>
          </a:p>
        </p:txBody>
      </p:sp>
      <p:sp>
        <p:nvSpPr>
          <p:cNvPr id="420" name="Funnel0"/>
          <p:cNvSpPr/>
          <p:nvPr/>
        </p:nvSpPr>
        <p:spPr>
          <a:xfrm>
            <a:off x="6172200" y="1280160"/>
            <a:ext cx="50292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400" b="0" dirty="0">
                <a:solidFill>
                  <a:srgbClr val="003366"/>
                </a:solidFill>
                <a:latin typeface="Calibri"/>
              </a:rPr>
              <a:t>Осведомлённость</a:t>
            </a:r>
          </a:p>
        </p:txBody>
      </p:sp>
      <p:sp>
        <p:nvSpPr>
          <p:cNvPr id="421" name="Funnel1"/>
          <p:cNvSpPr/>
          <p:nvPr/>
        </p:nvSpPr>
        <p:spPr>
          <a:xfrm>
            <a:off x="6629400" y="1828800"/>
            <a:ext cx="41148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400" b="0" dirty="0">
                <a:solidFill>
                  <a:srgbClr val="003366"/>
                </a:solidFill>
                <a:latin typeface="Calibri"/>
              </a:rPr>
              <a:t>Интерес</a:t>
            </a:r>
          </a:p>
        </p:txBody>
      </p:sp>
      <p:sp>
        <p:nvSpPr>
          <p:cNvPr id="422" name="Funnel2"/>
          <p:cNvSpPr/>
          <p:nvPr/>
        </p:nvSpPr>
        <p:spPr>
          <a:xfrm>
            <a:off x="6995160" y="2377440"/>
            <a:ext cx="3383280" cy="502920"/>
          </a:xfrm>
          <a:prstGeom prst="rect">
            <a:avLst/>
          </a:prstGeom>
          <a:solidFill>
            <a:srgbClr val="BFA46F"/>
          </a:solidFill>
          <a:ln w="25400">
            <a:solidFill>
              <a:srgbClr val="003366"/>
            </a:solidFill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ДОВЕРИЕ ★</a:t>
            </a:r>
          </a:p>
        </p:txBody>
      </p:sp>
      <p:sp>
        <p:nvSpPr>
          <p:cNvPr id="423" name="Funnel3"/>
          <p:cNvSpPr/>
          <p:nvPr/>
        </p:nvSpPr>
        <p:spPr>
          <a:xfrm>
            <a:off x="7360920" y="2926080"/>
            <a:ext cx="26517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400" b="0" dirty="0">
                <a:solidFill>
                  <a:srgbClr val="003366"/>
                </a:solidFill>
                <a:latin typeface="Calibri"/>
              </a:rPr>
              <a:t>Пробное использование</a:t>
            </a:r>
          </a:p>
        </p:txBody>
      </p:sp>
      <p:sp>
        <p:nvSpPr>
          <p:cNvPr id="424" name="Funnel4"/>
          <p:cNvSpPr/>
          <p:nvPr/>
        </p:nvSpPr>
        <p:spPr>
          <a:xfrm>
            <a:off x="7726680" y="3474720"/>
            <a:ext cx="19202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400" b="0" dirty="0">
                <a:solidFill>
                  <a:srgbClr val="003366"/>
                </a:solidFill>
                <a:latin typeface="Calibri"/>
              </a:rPr>
              <a:t>Принятие</a:t>
            </a:r>
          </a:p>
        </p:txBody>
      </p:sp>
      <p:sp>
        <p:nvSpPr>
          <p:cNvPr id="425" name="Funnel5"/>
          <p:cNvSpPr/>
          <p:nvPr/>
        </p:nvSpPr>
        <p:spPr>
          <a:xfrm>
            <a:off x="8092440" y="4023360"/>
            <a:ext cx="11887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400" b="0" dirty="0">
                <a:solidFill>
                  <a:srgbClr val="003366"/>
                </a:solidFill>
                <a:latin typeface="Calibri"/>
              </a:rPr>
              <a:t>Лояльность</a:t>
            </a:r>
          </a:p>
        </p:txBody>
      </p:sp>
      <p:sp>
        <p:nvSpPr>
          <p:cNvPr id="430" name="Result"/>
          <p:cNvSpPr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BFA46F"/>
                </a:solidFill>
                <a:latin typeface="Calibri"/>
              </a:rPr>
              <a:t>РЕЗУЛЬТАТ</a:t>
            </a:r>
          </a:p>
          <a:p>
            <a:r>
              <a:rPr lang="ru-RU" sz="1500" b="0" dirty="0">
                <a:solidFill>
                  <a:srgbClr val="003366"/>
                </a:solidFill>
                <a:latin typeface="Calibri"/>
              </a:rPr>
              <a:t>В воронке инновационного продукта обособляется самостоятельный этап </a:t>
            </a:r>
            <a:r>
              <a:rPr lang="ru-RU" sz="1500" b="1" dirty="0">
                <a:solidFill>
                  <a:srgbClr val="BFA46F"/>
                </a:solidFill>
                <a:latin typeface="Calibri"/>
              </a:rPr>
              <a:t>ДОВЕРИЯ</a:t>
            </a:r>
            <a:r>
              <a:rPr lang="ru-RU" sz="1500" b="0" dirty="0">
                <a:solidFill>
                  <a:srgbClr val="003366"/>
                </a:solidFill>
                <a:latin typeface="Calibri"/>
              </a:rPr>
              <a:t> — без него потребитель не переходит от интереса к пробному использованию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Header_5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2800" b="1" dirty="0">
                <a:solidFill>
                  <a:srgbClr val="FFFFFF"/>
                </a:solidFill>
                <a:latin typeface="Calibri"/>
              </a:rPr>
              <a:t>Задача 2. Особенности продвижения биометрии в банках</a:t>
            </a:r>
          </a:p>
        </p:txBody>
      </p:sp>
      <p:sp>
        <p:nvSpPr>
          <p:cNvPr id="250" name="PageNum_5"/>
          <p:cNvSpPr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pPr algn="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5 / 10</a:t>
            </a:r>
          </a:p>
        </p:txBody>
      </p:sp>
      <p:sp>
        <p:nvSpPr>
          <p:cNvPr id="510" name="BarriersTitle"/>
          <p:cNvSpPr/>
          <p:nvPr/>
        </p:nvSpPr>
        <p:spPr>
          <a:xfrm>
            <a:off x="457200" y="1280160"/>
            <a:ext cx="530352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800" b="1" dirty="0">
                <a:solidFill>
                  <a:srgbClr val="FFFFFF"/>
                </a:solidFill>
                <a:latin typeface="Calibri"/>
              </a:rPr>
              <a:t>5 ГРУПП БАРЬЕРОВ</a:t>
            </a:r>
          </a:p>
        </p:txBody>
      </p:sp>
      <p:sp>
        <p:nvSpPr>
          <p:cNvPr id="511" name="Barrier0"/>
          <p:cNvSpPr/>
          <p:nvPr/>
        </p:nvSpPr>
        <p:spPr>
          <a:xfrm>
            <a:off x="457200" y="1828800"/>
            <a:ext cx="530352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300" b="1" dirty="0">
                <a:solidFill>
                  <a:srgbClr val="003366"/>
                </a:solidFill>
                <a:latin typeface="Calibri"/>
              </a:rPr>
              <a:t>1. Психологические</a:t>
            </a:r>
          </a:p>
          <a:p>
            <a:r>
              <a:rPr lang="ru-RU" sz="1100" b="0" dirty="0">
                <a:solidFill>
                  <a:srgbClr val="7F7F7F"/>
                </a:solidFill>
                <a:latin typeface="Calibri"/>
              </a:rPr>
              <a:t>страх утечки биометрии</a:t>
            </a:r>
          </a:p>
        </p:txBody>
      </p:sp>
      <p:sp>
        <p:nvSpPr>
          <p:cNvPr id="512" name="Barrier1"/>
          <p:cNvSpPr/>
          <p:nvPr/>
        </p:nvSpPr>
        <p:spPr>
          <a:xfrm>
            <a:off x="457200" y="2468880"/>
            <a:ext cx="530352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300" b="1" dirty="0">
                <a:solidFill>
                  <a:srgbClr val="003366"/>
                </a:solidFill>
                <a:latin typeface="Calibri"/>
              </a:rPr>
              <a:t>2. Когнитивные</a:t>
            </a:r>
          </a:p>
          <a:p>
            <a:r>
              <a:rPr lang="ru-RU" sz="1100" b="0" dirty="0">
                <a:solidFill>
                  <a:srgbClr val="7F7F7F"/>
                </a:solidFill>
                <a:latin typeface="Calibri"/>
              </a:rPr>
              <a:t>непонимание принципа работы</a:t>
            </a:r>
          </a:p>
        </p:txBody>
      </p:sp>
      <p:sp>
        <p:nvSpPr>
          <p:cNvPr id="513" name="Barrier2"/>
          <p:cNvSpPr/>
          <p:nvPr/>
        </p:nvSpPr>
        <p:spPr>
          <a:xfrm>
            <a:off x="457200" y="3108960"/>
            <a:ext cx="530352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300" b="1" dirty="0">
                <a:solidFill>
                  <a:srgbClr val="003366"/>
                </a:solidFill>
                <a:latin typeface="Calibri"/>
              </a:rPr>
              <a:t>3. Поведенческие</a:t>
            </a:r>
          </a:p>
          <a:p>
            <a:r>
              <a:rPr lang="ru-RU" sz="1100" b="0" dirty="0">
                <a:solidFill>
                  <a:srgbClr val="7F7F7F"/>
                </a:solidFill>
                <a:latin typeface="Calibri"/>
              </a:rPr>
              <a:t>привычка к картам и паролям</a:t>
            </a:r>
          </a:p>
        </p:txBody>
      </p:sp>
      <p:sp>
        <p:nvSpPr>
          <p:cNvPr id="514" name="Barrier3"/>
          <p:cNvSpPr/>
          <p:nvPr/>
        </p:nvSpPr>
        <p:spPr>
          <a:xfrm>
            <a:off x="457200" y="3749040"/>
            <a:ext cx="530352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300" b="1" dirty="0">
                <a:solidFill>
                  <a:srgbClr val="003366"/>
                </a:solidFill>
                <a:latin typeface="Calibri"/>
              </a:rPr>
              <a:t>4. Организационные (B2B)</a:t>
            </a:r>
          </a:p>
          <a:p>
            <a:r>
              <a:rPr lang="ru-RU" sz="1100" b="0" dirty="0">
                <a:solidFill>
                  <a:srgbClr val="7F7F7F"/>
                </a:solidFill>
                <a:latin typeface="Calibri"/>
              </a:rPr>
              <a:t>цена внедрения, длинный цикл</a:t>
            </a:r>
          </a:p>
        </p:txBody>
      </p:sp>
      <p:sp>
        <p:nvSpPr>
          <p:cNvPr id="515" name="Barrier4"/>
          <p:cNvSpPr/>
          <p:nvPr/>
        </p:nvSpPr>
        <p:spPr>
          <a:xfrm>
            <a:off x="457200" y="4389120"/>
            <a:ext cx="530352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300" b="1" dirty="0">
                <a:solidFill>
                  <a:srgbClr val="003366"/>
                </a:solidFill>
                <a:latin typeface="Calibri"/>
              </a:rPr>
              <a:t>5. Регуляторно-репутационные</a:t>
            </a:r>
          </a:p>
          <a:p>
            <a:r>
              <a:rPr lang="ru-RU" sz="1100" b="0" dirty="0">
                <a:solidFill>
                  <a:srgbClr val="7F7F7F"/>
                </a:solidFill>
                <a:latin typeface="Calibri"/>
              </a:rPr>
              <a:t>риск штрафов и инцидентов</a:t>
            </a:r>
          </a:p>
        </p:txBody>
      </p:sp>
      <p:sp>
        <p:nvSpPr>
          <p:cNvPr id="530" name="PillarsTitle"/>
          <p:cNvSpPr/>
          <p:nvPr/>
        </p:nvSpPr>
        <p:spPr>
          <a:xfrm>
            <a:off x="6309360" y="1280160"/>
            <a:ext cx="5303520" cy="5486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800" b="1" dirty="0">
                <a:solidFill>
                  <a:srgbClr val="FFFFFF"/>
                </a:solidFill>
                <a:latin typeface="Calibri"/>
              </a:rPr>
              <a:t>4 ОПОРЫ УСПЕХА</a:t>
            </a:r>
          </a:p>
        </p:txBody>
      </p:sp>
      <p:sp>
        <p:nvSpPr>
          <p:cNvPr id="531" name="Pillar0"/>
          <p:cNvSpPr/>
          <p:nvPr/>
        </p:nvSpPr>
        <p:spPr>
          <a:xfrm>
            <a:off x="6309360" y="1828800"/>
            <a:ext cx="5303520" cy="7132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300" b="1" dirty="0">
                <a:solidFill>
                  <a:srgbClr val="003366"/>
                </a:solidFill>
                <a:latin typeface="Calibri"/>
              </a:rPr>
              <a:t>1. Правовая</a:t>
            </a:r>
          </a:p>
          <a:p>
            <a:r>
              <a:rPr lang="ru-RU" sz="1100" b="0" dirty="0">
                <a:solidFill>
                  <a:srgbClr val="7F7F7F"/>
                </a:solidFill>
                <a:latin typeface="Calibri"/>
              </a:rPr>
              <a:t>572-ФЗ, аккредитация Минцифры</a:t>
            </a:r>
          </a:p>
        </p:txBody>
      </p:sp>
      <p:sp>
        <p:nvSpPr>
          <p:cNvPr id="532" name="Pillar1"/>
          <p:cNvSpPr/>
          <p:nvPr/>
        </p:nvSpPr>
        <p:spPr>
          <a:xfrm>
            <a:off x="6309360" y="2606040"/>
            <a:ext cx="5303520" cy="7132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300" b="1" dirty="0">
                <a:solidFill>
                  <a:srgbClr val="003366"/>
                </a:solidFill>
                <a:latin typeface="Calibri"/>
              </a:rPr>
              <a:t>2. Социально-психологическая</a:t>
            </a:r>
          </a:p>
          <a:p>
            <a:r>
              <a:rPr lang="ru-RU" sz="1100" b="0" dirty="0">
                <a:solidFill>
                  <a:srgbClr val="7F7F7F"/>
                </a:solidFill>
                <a:latin typeface="Calibri"/>
              </a:rPr>
              <a:t>доверие аудитории</a:t>
            </a:r>
          </a:p>
        </p:txBody>
      </p:sp>
      <p:sp>
        <p:nvSpPr>
          <p:cNvPr id="533" name="Pillar2"/>
          <p:cNvSpPr/>
          <p:nvPr/>
        </p:nvSpPr>
        <p:spPr>
          <a:xfrm>
            <a:off x="6309360" y="3383280"/>
            <a:ext cx="5303520" cy="7132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300" b="1" dirty="0">
                <a:solidFill>
                  <a:srgbClr val="003366"/>
                </a:solidFill>
                <a:latin typeface="Calibri"/>
              </a:rPr>
              <a:t>3. Технологическая</a:t>
            </a:r>
          </a:p>
          <a:p>
            <a:r>
              <a:rPr lang="ru-RU" sz="1100" b="0" dirty="0">
                <a:solidFill>
                  <a:srgbClr val="7F7F7F"/>
                </a:solidFill>
                <a:latin typeface="Calibri"/>
              </a:rPr>
              <a:t>точность, скорость, надёжность</a:t>
            </a:r>
          </a:p>
        </p:txBody>
      </p:sp>
      <p:sp>
        <p:nvSpPr>
          <p:cNvPr id="534" name="Pillar3"/>
          <p:cNvSpPr/>
          <p:nvPr/>
        </p:nvSpPr>
        <p:spPr>
          <a:xfrm>
            <a:off x="6309360" y="4160520"/>
            <a:ext cx="5303520" cy="7132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300" b="1" dirty="0">
                <a:solidFill>
                  <a:srgbClr val="003366"/>
                </a:solidFill>
                <a:latin typeface="Calibri"/>
              </a:rPr>
              <a:t>4. Экономическая</a:t>
            </a:r>
          </a:p>
          <a:p>
            <a:r>
              <a:rPr lang="ru-RU" sz="1100" b="0" dirty="0">
                <a:solidFill>
                  <a:srgbClr val="7F7F7F"/>
                </a:solidFill>
                <a:latin typeface="Calibri"/>
              </a:rPr>
              <a:t>понятный ROI для B2B</a:t>
            </a:r>
          </a:p>
        </p:txBody>
      </p:sp>
      <p:sp>
        <p:nvSpPr>
          <p:cNvPr id="540" name="Result"/>
          <p:cNvSpPr/>
          <p:nvPr/>
        </p:nvSpPr>
        <p:spPr>
          <a:xfrm>
            <a:off x="457200" y="5303520"/>
            <a:ext cx="1124712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BFA46F"/>
                </a:solidFill>
                <a:latin typeface="Calibri"/>
              </a:rPr>
              <a:t>РЕЗУЛЬТАТ</a:t>
            </a:r>
          </a:p>
          <a:p>
            <a:r>
              <a:rPr lang="ru-RU" sz="1500" b="0" dirty="0">
                <a:solidFill>
                  <a:srgbClr val="003366"/>
                </a:solidFill>
                <a:latin typeface="Calibri"/>
              </a:rPr>
              <a:t>Модель продвижения биометрических банковских продуктов с учётом 572-ФЗ и архитектуры ЕБС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Header_6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2800" b="1" dirty="0">
                <a:solidFill>
                  <a:srgbClr val="FFFFFF"/>
                </a:solidFill>
                <a:latin typeface="Calibri"/>
              </a:rPr>
              <a:t>Задача 3. ПАО «АК БАРС» БАНК — финансовый масштаб</a:t>
            </a:r>
          </a:p>
        </p:txBody>
      </p:sp>
      <p:sp>
        <p:nvSpPr>
          <p:cNvPr id="260" name="PageNum_6"/>
          <p:cNvSpPr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pPr algn="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6 / 10</a:t>
            </a:r>
          </a:p>
        </p:txBody>
      </p:sp>
      <p:sp>
        <p:nvSpPr>
          <p:cNvPr id="610" name="KPI0"/>
          <p:cNvSpPr/>
          <p:nvPr/>
        </p:nvSpPr>
        <p:spPr>
          <a:xfrm>
            <a:off x="411480" y="1188720"/>
            <a:ext cx="2697480" cy="1828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АКТИВЫ</a:t>
            </a:r>
          </a:p>
          <a:p>
            <a:r>
              <a:rPr lang="ru-RU" sz="4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4400" b="1" dirty="0">
                <a:solidFill>
                  <a:srgbClr val="BFA46F"/>
                </a:solidFill>
                <a:latin typeface="Calibri"/>
              </a:rPr>
              <a:t>1 157</a:t>
            </a:r>
          </a:p>
          <a:p>
            <a:pPr algn="ctr">
              <a:buNone/>
            </a:pPr>
            <a:r>
              <a:rPr lang="ru-RU" sz="1300" b="0" dirty="0">
                <a:solidFill>
                  <a:srgbClr val="FFFFFF"/>
                </a:solidFill>
                <a:latin typeface="Calibri"/>
              </a:rPr>
              <a:t>млрд ₽</a:t>
            </a:r>
          </a:p>
          <a:p>
            <a:pPr algn="ctr">
              <a:buNone/>
            </a:pPr>
            <a:r>
              <a:rPr lang="ru-RU" sz="800" b="0" dirty="0">
                <a:solidFill>
                  <a:srgbClr val="BFA46F"/>
                </a:solidFill>
                <a:latin typeface="Calibri"/>
              </a:rPr>
              <a:t>─────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↑ 22 % за год</a:t>
            </a:r>
          </a:p>
        </p:txBody>
      </p:sp>
      <p:sp>
        <p:nvSpPr>
          <p:cNvPr id="611" name="KPI1"/>
          <p:cNvSpPr/>
          <p:nvPr/>
        </p:nvSpPr>
        <p:spPr>
          <a:xfrm>
            <a:off x="3227832" y="1188720"/>
            <a:ext cx="2697480" cy="1828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ПРИБЫЛЬ</a:t>
            </a:r>
          </a:p>
          <a:p>
            <a:r>
              <a:rPr lang="ru-RU" sz="4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4400" b="1" dirty="0">
                <a:solidFill>
                  <a:srgbClr val="BFA46F"/>
                </a:solidFill>
                <a:latin typeface="Calibri"/>
              </a:rPr>
              <a:t>15,7</a:t>
            </a:r>
          </a:p>
          <a:p>
            <a:pPr algn="ctr">
              <a:buNone/>
            </a:pPr>
            <a:r>
              <a:rPr lang="ru-RU" sz="1300" b="0" dirty="0">
                <a:solidFill>
                  <a:srgbClr val="FFFFFF"/>
                </a:solidFill>
                <a:latin typeface="Calibri"/>
              </a:rPr>
              <a:t>млрд ₽</a:t>
            </a:r>
          </a:p>
          <a:p>
            <a:pPr algn="ctr">
              <a:buNone/>
            </a:pPr>
            <a:r>
              <a:rPr lang="ru-RU" sz="800" b="0" dirty="0">
                <a:solidFill>
                  <a:srgbClr val="BFA46F"/>
                </a:solidFill>
                <a:latin typeface="Calibri"/>
              </a:rPr>
              <a:t>─────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↑ × 2 к 2024</a:t>
            </a:r>
          </a:p>
        </p:txBody>
      </p:sp>
      <p:sp>
        <p:nvSpPr>
          <p:cNvPr id="612" name="KPI2"/>
          <p:cNvSpPr/>
          <p:nvPr/>
        </p:nvSpPr>
        <p:spPr>
          <a:xfrm>
            <a:off x="6044184" y="1188720"/>
            <a:ext cx="2697480" cy="1828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КАПИТАЛ</a:t>
            </a:r>
          </a:p>
          <a:p>
            <a:r>
              <a:rPr lang="ru-RU" sz="4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4400" b="1" dirty="0">
                <a:solidFill>
                  <a:srgbClr val="BFA46F"/>
                </a:solidFill>
                <a:latin typeface="Calibri"/>
              </a:rPr>
              <a:t>126</a:t>
            </a:r>
          </a:p>
          <a:p>
            <a:pPr algn="ctr">
              <a:buNone/>
            </a:pPr>
            <a:r>
              <a:rPr lang="ru-RU" sz="1300" b="0" dirty="0">
                <a:solidFill>
                  <a:srgbClr val="FFFFFF"/>
                </a:solidFill>
                <a:latin typeface="Calibri"/>
              </a:rPr>
              <a:t>млрд ₽</a:t>
            </a:r>
          </a:p>
          <a:p>
            <a:pPr algn="ctr">
              <a:buNone/>
            </a:pPr>
            <a:r>
              <a:rPr lang="ru-RU" sz="800" b="0" dirty="0">
                <a:solidFill>
                  <a:srgbClr val="BFA46F"/>
                </a:solidFill>
                <a:latin typeface="Calibri"/>
              </a:rPr>
              <a:t>─────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↑ 13 %</a:t>
            </a:r>
          </a:p>
        </p:txBody>
      </p:sp>
      <p:sp>
        <p:nvSpPr>
          <p:cNvPr id="613" name="KPI3"/>
          <p:cNvSpPr/>
          <p:nvPr/>
        </p:nvSpPr>
        <p:spPr>
          <a:xfrm>
            <a:off x="8860536" y="1188720"/>
            <a:ext cx="2697480" cy="1828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ESG</a:t>
            </a:r>
          </a:p>
          <a:p>
            <a:r>
              <a:rPr lang="ru-RU" sz="4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4400" b="1" dirty="0">
                <a:solidFill>
                  <a:srgbClr val="BFA46F"/>
                </a:solidFill>
                <a:latin typeface="Calibri"/>
              </a:rPr>
              <a:t>A</a:t>
            </a:r>
          </a:p>
          <a:p>
            <a:pPr algn="ctr">
              <a:buNone/>
            </a:pPr>
            <a:r>
              <a:rPr lang="ru-RU" sz="1300" b="0" dirty="0">
                <a:solidFill>
                  <a:srgbClr val="FFFFFF"/>
                </a:solidFill>
                <a:latin typeface="Calibri"/>
              </a:rPr>
              <a:t>НКР</a:t>
            </a:r>
          </a:p>
          <a:p>
            <a:pPr algn="ctr">
              <a:buNone/>
            </a:pPr>
            <a:r>
              <a:rPr lang="ru-RU" sz="800" b="0" dirty="0">
                <a:solidFill>
                  <a:srgbClr val="BFA46F"/>
                </a:solidFill>
                <a:latin typeface="Calibri"/>
              </a:rPr>
              <a:t>─────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+ ESG-III(b) Эксперт РА</a:t>
            </a:r>
          </a:p>
        </p:txBody>
      </p:sp>
      <p:sp>
        <p:nvSpPr>
          <p:cNvPr id="620" name="ChartTitle"/>
          <p:cNvSpPr/>
          <p:nvPr/>
        </p:nvSpPr>
        <p:spPr>
          <a:xfrm>
            <a:off x="457200" y="32918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003366"/>
                </a:solidFill>
                <a:latin typeface="Calibri"/>
              </a:rPr>
              <a:t>ДИНАМИКА АКТИВОВ ГРУППЫ, млрд ₽</a:t>
            </a:r>
          </a:p>
        </p:txBody>
      </p:sp>
      <p:sp>
        <p:nvSpPr>
          <p:cNvPr id="621" name="Bar2024Lbl"/>
          <p:cNvSpPr/>
          <p:nvPr/>
        </p:nvSpPr>
        <p:spPr>
          <a:xfrm>
            <a:off x="457200" y="38404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200" b="1" dirty="0">
                <a:solidFill>
                  <a:srgbClr val="003366"/>
                </a:solidFill>
                <a:latin typeface="Calibri"/>
              </a:rPr>
              <a:t>2024</a:t>
            </a:r>
          </a:p>
        </p:txBody>
      </p:sp>
      <p:sp>
        <p:nvSpPr>
          <p:cNvPr id="622" name="Bar2024"/>
          <p:cNvSpPr/>
          <p:nvPr/>
        </p:nvSpPr>
        <p:spPr>
          <a:xfrm>
            <a:off x="1188720" y="3840480"/>
            <a:ext cx="50292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FFFFFF"/>
                </a:solidFill>
                <a:latin typeface="Calibri"/>
              </a:rPr>
              <a:t>  947</a:t>
            </a:r>
          </a:p>
        </p:txBody>
      </p:sp>
      <p:sp>
        <p:nvSpPr>
          <p:cNvPr id="623" name="Bar2025Lbl"/>
          <p:cNvSpPr/>
          <p:nvPr/>
        </p:nvSpPr>
        <p:spPr>
          <a:xfrm>
            <a:off x="457200" y="42976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200" b="1" dirty="0">
                <a:solidFill>
                  <a:srgbClr val="003366"/>
                </a:solidFill>
                <a:latin typeface="Calibri"/>
              </a:rPr>
              <a:t>2025</a:t>
            </a:r>
          </a:p>
        </p:txBody>
      </p:sp>
      <p:sp>
        <p:nvSpPr>
          <p:cNvPr id="624" name="Bar2025"/>
          <p:cNvSpPr/>
          <p:nvPr/>
        </p:nvSpPr>
        <p:spPr>
          <a:xfrm>
            <a:off x="1188720" y="4297680"/>
            <a:ext cx="6126480" cy="365760"/>
          </a:xfrm>
          <a:prstGeom prst="rect">
            <a:avLst/>
          </a:prstGeom>
          <a:solidFill>
            <a:srgbClr val="BFA46F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FFFFFF"/>
                </a:solidFill>
                <a:latin typeface="Calibri"/>
              </a:rPr>
              <a:t>  1 157</a:t>
            </a:r>
          </a:p>
        </p:txBody>
      </p:sp>
      <p:sp>
        <p:nvSpPr>
          <p:cNvPr id="625" name="Ratings"/>
          <p:cNvSpPr/>
          <p:nvPr/>
        </p:nvSpPr>
        <p:spPr>
          <a:xfrm>
            <a:off x="7955279" y="3291840"/>
            <a:ext cx="36576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200" b="1" dirty="0">
                <a:solidFill>
                  <a:srgbClr val="BFA46F"/>
                </a:solidFill>
                <a:latin typeface="Calibri"/>
              </a:rPr>
              <a:t>КРЕДИТНЫЕ РЕЙТИНГИ</a:t>
            </a:r>
          </a:p>
          <a:p>
            <a:r>
              <a:rPr lang="ru-RU" sz="1200" b="0" dirty="0">
                <a:solidFill>
                  <a:srgbClr val="003366"/>
                </a:solidFill>
                <a:latin typeface="Calibri"/>
              </a:rPr>
              <a:t>• A(RU) — АКРА</a:t>
            </a:r>
          </a:p>
          <a:p>
            <a:r>
              <a:rPr lang="ru-RU" sz="1200" b="0" dirty="0">
                <a:solidFill>
                  <a:srgbClr val="003366"/>
                </a:solidFill>
                <a:latin typeface="Calibri"/>
              </a:rPr>
              <a:t>• ruA — Эксперт РА</a:t>
            </a:r>
          </a:p>
          <a:p>
            <a:r>
              <a:rPr lang="ru-RU" sz="1200" b="0" dirty="0">
                <a:solidFill>
                  <a:srgbClr val="003366"/>
                </a:solidFill>
                <a:latin typeface="Calibri"/>
              </a:rPr>
              <a:t>• A.ru — НКР</a:t>
            </a:r>
          </a:p>
          <a:p>
            <a:r>
              <a:rPr lang="ru-RU" sz="6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r>
              <a:rPr lang="ru-RU" sz="1200" b="1" dirty="0">
                <a:solidFill>
                  <a:srgbClr val="BFA46F"/>
                </a:solidFill>
                <a:latin typeface="Calibri"/>
              </a:rPr>
              <a:t>ESG-РЕЙТИНГИ</a:t>
            </a:r>
          </a:p>
          <a:p>
            <a:r>
              <a:rPr lang="ru-RU" sz="1200" b="0" dirty="0">
                <a:solidFill>
                  <a:srgbClr val="003366"/>
                </a:solidFill>
                <a:latin typeface="Calibri"/>
              </a:rPr>
              <a:t>• ESG-A — НКР</a:t>
            </a:r>
          </a:p>
          <a:p>
            <a:r>
              <a:rPr lang="ru-RU" sz="1200" b="0" dirty="0">
                <a:solidFill>
                  <a:srgbClr val="003366"/>
                </a:solidFill>
                <a:latin typeface="Calibri"/>
              </a:rPr>
              <a:t>• ESG-III(b) — Эксперт РА</a:t>
            </a:r>
          </a:p>
        </p:txBody>
      </p:sp>
      <p:sp>
        <p:nvSpPr>
          <p:cNvPr id="630" name="Result"/>
          <p:cNvSpPr/>
          <p:nvPr/>
        </p:nvSpPr>
        <p:spPr>
          <a:xfrm>
            <a:off x="457200" y="5349240"/>
            <a:ext cx="1124712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BFA46F"/>
                </a:solidFill>
                <a:latin typeface="Calibri"/>
              </a:rPr>
              <a:t>ВЫВОД</a:t>
            </a:r>
          </a:p>
          <a:p>
            <a:r>
              <a:rPr lang="ru-RU" sz="1400" b="0" dirty="0">
                <a:solidFill>
                  <a:srgbClr val="003366"/>
                </a:solidFill>
                <a:latin typeface="Calibri"/>
              </a:rPr>
              <a:t>Банк располагает финансовыми ресурсами и ESG-рейтингом «А» для масштабирования инноваций;</a:t>
            </a:r>
          </a:p>
          <a:p>
            <a:r>
              <a:rPr lang="ru-RU" sz="1400" b="0" dirty="0">
                <a:solidFill>
                  <a:srgbClr val="003366"/>
                </a:solidFill>
                <a:latin typeface="Calibri"/>
              </a:rPr>
              <a:t>дивиденды не выплачиваются — ресурсы остаются в группе и могут быть направлены на продвижение Face2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Header_7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2800" b="1" dirty="0">
                <a:solidFill>
                  <a:srgbClr val="FFFFFF"/>
                </a:solidFill>
                <a:latin typeface="Calibri"/>
              </a:rPr>
              <a:t>Задача 3. Продукт Face2 — линейка и параметры</a:t>
            </a:r>
          </a:p>
        </p:txBody>
      </p:sp>
      <p:sp>
        <p:nvSpPr>
          <p:cNvPr id="270" name="PageNum_7"/>
          <p:cNvSpPr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pPr algn="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7 / 10</a:t>
            </a:r>
          </a:p>
        </p:txBody>
      </p:sp>
      <p:sp>
        <p:nvSpPr>
          <p:cNvPr id="710" name="Prod0"/>
          <p:cNvSpPr/>
          <p:nvPr/>
        </p:nvSpPr>
        <p:spPr>
          <a:xfrm>
            <a:off x="411480" y="1188720"/>
            <a:ext cx="2697480" cy="1828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800" b="1" dirty="0">
                <a:solidFill>
                  <a:srgbClr val="BFA46F"/>
                </a:solidFill>
                <a:latin typeface="Calibri"/>
              </a:rPr>
              <a:t>Face2Pay</a:t>
            </a:r>
          </a:p>
          <a:p>
            <a:pPr algn="ctr">
              <a:buNone/>
            </a:pPr>
            <a:r>
              <a:rPr lang="ru-RU" sz="800" b="0" dirty="0">
                <a:solidFill>
                  <a:srgbClr val="FFFFFF"/>
                </a:solidFill>
                <a:latin typeface="Calibri"/>
              </a:rPr>
              <a:t>─────────</a:t>
            </a:r>
          </a:p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Оплата по лицу</a:t>
            </a:r>
          </a:p>
          <a:p>
            <a:r>
              <a:rPr lang="ru-RU" sz="4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Банки, ритейл,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маркетплейсы</a:t>
            </a:r>
          </a:p>
        </p:txBody>
      </p:sp>
      <p:sp>
        <p:nvSpPr>
          <p:cNvPr id="711" name="Prod1"/>
          <p:cNvSpPr/>
          <p:nvPr/>
        </p:nvSpPr>
        <p:spPr>
          <a:xfrm>
            <a:off x="3227832" y="1188720"/>
            <a:ext cx="2697480" cy="1828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800" b="1" dirty="0">
                <a:solidFill>
                  <a:srgbClr val="BFA46F"/>
                </a:solidFill>
                <a:latin typeface="Calibri"/>
              </a:rPr>
              <a:t>Face2Pass</a:t>
            </a:r>
          </a:p>
          <a:p>
            <a:pPr algn="ctr">
              <a:buNone/>
            </a:pPr>
            <a:r>
              <a:rPr lang="ru-RU" sz="800" b="0" dirty="0">
                <a:solidFill>
                  <a:srgbClr val="FFFFFF"/>
                </a:solidFill>
                <a:latin typeface="Calibri"/>
              </a:rPr>
              <a:t>─────────</a:t>
            </a:r>
          </a:p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СКУД</a:t>
            </a:r>
          </a:p>
          <a:p>
            <a:r>
              <a:rPr lang="ru-RU" sz="4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Офисы, ВУЗы,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заводы</a:t>
            </a:r>
          </a:p>
        </p:txBody>
      </p:sp>
      <p:sp>
        <p:nvSpPr>
          <p:cNvPr id="712" name="Prod2"/>
          <p:cNvSpPr/>
          <p:nvPr/>
        </p:nvSpPr>
        <p:spPr>
          <a:xfrm>
            <a:off x="6044184" y="1188720"/>
            <a:ext cx="2697480" cy="1828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800" b="1" dirty="0">
                <a:solidFill>
                  <a:srgbClr val="BFA46F"/>
                </a:solidFill>
                <a:latin typeface="Calibri"/>
              </a:rPr>
              <a:t>Face2Check-in</a:t>
            </a:r>
          </a:p>
          <a:p>
            <a:pPr algn="ctr">
              <a:buNone/>
            </a:pPr>
            <a:r>
              <a:rPr lang="ru-RU" sz="800" b="0" dirty="0">
                <a:solidFill>
                  <a:srgbClr val="FFFFFF"/>
                </a:solidFill>
                <a:latin typeface="Calibri"/>
              </a:rPr>
              <a:t>─────────</a:t>
            </a:r>
          </a:p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Возраст и личность</a:t>
            </a:r>
          </a:p>
          <a:p>
            <a:r>
              <a:rPr lang="ru-RU" sz="4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Аэропорты, спорт,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режимные объекты</a:t>
            </a:r>
          </a:p>
        </p:txBody>
      </p:sp>
      <p:sp>
        <p:nvSpPr>
          <p:cNvPr id="713" name="Prod3"/>
          <p:cNvSpPr/>
          <p:nvPr/>
        </p:nvSpPr>
        <p:spPr>
          <a:xfrm>
            <a:off x="8860536" y="1188720"/>
            <a:ext cx="2697480" cy="1828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800" b="1" dirty="0">
                <a:solidFill>
                  <a:srgbClr val="BFA46F"/>
                </a:solidFill>
                <a:latin typeface="Calibri"/>
              </a:rPr>
              <a:t>КБС под ключ</a:t>
            </a:r>
          </a:p>
          <a:p>
            <a:pPr algn="ctr">
              <a:buNone/>
            </a:pPr>
            <a:r>
              <a:rPr lang="ru-RU" sz="800" b="0" dirty="0">
                <a:solidFill>
                  <a:srgbClr val="FFFFFF"/>
                </a:solidFill>
                <a:latin typeface="Calibri"/>
              </a:rPr>
              <a:t>─────────</a:t>
            </a:r>
          </a:p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Полная биосистема</a:t>
            </a:r>
          </a:p>
          <a:p>
            <a:r>
              <a:rPr lang="ru-RU" sz="4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Банки и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госорганизации</a:t>
            </a:r>
          </a:p>
        </p:txBody>
      </p:sp>
      <p:sp>
        <p:nvSpPr>
          <p:cNvPr id="720" name="KPITitle"/>
          <p:cNvSpPr/>
          <p:nvPr/>
        </p:nvSpPr>
        <p:spPr>
          <a:xfrm>
            <a:off x="411480" y="3246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BFA46F"/>
                </a:solidFill>
                <a:latin typeface="Calibri"/>
              </a:rPr>
              <a:t>ПАРАМЕТРЫ ПРОДУКТА</a:t>
            </a:r>
          </a:p>
        </p:txBody>
      </p:sp>
      <p:sp>
        <p:nvSpPr>
          <p:cNvPr id="721" name="KP0"/>
          <p:cNvSpPr/>
          <p:nvPr/>
        </p:nvSpPr>
        <p:spPr>
          <a:xfrm>
            <a:off x="411480" y="3657600"/>
            <a:ext cx="182880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A46F"/>
            </a:solidFill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2800" b="1" dirty="0">
                <a:solidFill>
                  <a:srgbClr val="BFA46F"/>
                </a:solidFill>
                <a:latin typeface="Calibri"/>
              </a:rPr>
              <a:t>99,5 %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003366"/>
                </a:solidFill>
                <a:latin typeface="Calibri"/>
              </a:rPr>
              <a:t>точность</a:t>
            </a:r>
          </a:p>
        </p:txBody>
      </p:sp>
      <p:sp>
        <p:nvSpPr>
          <p:cNvPr id="722" name="KP1"/>
          <p:cNvSpPr/>
          <p:nvPr/>
        </p:nvSpPr>
        <p:spPr>
          <a:xfrm>
            <a:off x="2295144" y="3657600"/>
            <a:ext cx="182880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A46F"/>
            </a:solidFill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2800" b="1" dirty="0">
                <a:solidFill>
                  <a:srgbClr val="BFA46F"/>
                </a:solidFill>
                <a:latin typeface="Calibri"/>
              </a:rPr>
              <a:t>2 сек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003366"/>
                </a:solidFill>
                <a:latin typeface="Calibri"/>
              </a:rPr>
              <a:t>сканирование</a:t>
            </a:r>
          </a:p>
        </p:txBody>
      </p:sp>
      <p:sp>
        <p:nvSpPr>
          <p:cNvPr id="723" name="KP2"/>
          <p:cNvSpPr/>
          <p:nvPr/>
        </p:nvSpPr>
        <p:spPr>
          <a:xfrm>
            <a:off x="4178808" y="3657600"/>
            <a:ext cx="182880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A46F"/>
            </a:solidFill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2800" b="1" dirty="0">
                <a:solidFill>
                  <a:srgbClr val="BFA46F"/>
                </a:solidFill>
                <a:latin typeface="Calibri"/>
              </a:rPr>
              <a:t>№ 4-А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003366"/>
                </a:solidFill>
                <a:latin typeface="Calibri"/>
              </a:rPr>
              <a:t>аккредитация</a:t>
            </a:r>
          </a:p>
        </p:txBody>
      </p:sp>
      <p:sp>
        <p:nvSpPr>
          <p:cNvPr id="724" name="KP3"/>
          <p:cNvSpPr/>
          <p:nvPr/>
        </p:nvSpPr>
        <p:spPr>
          <a:xfrm>
            <a:off x="6062472" y="3657600"/>
            <a:ext cx="182880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A46F"/>
            </a:solidFill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2800" b="1" dirty="0">
                <a:solidFill>
                  <a:srgbClr val="BFA46F"/>
                </a:solidFill>
                <a:latin typeface="Calibri"/>
              </a:rPr>
              <a:t>5 000+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003366"/>
                </a:solidFill>
                <a:latin typeface="Calibri"/>
              </a:rPr>
              <a:t>сотрудников</a:t>
            </a:r>
          </a:p>
        </p:txBody>
      </p:sp>
      <p:sp>
        <p:nvSpPr>
          <p:cNvPr id="725" name="KP4"/>
          <p:cNvSpPr/>
          <p:nvPr/>
        </p:nvSpPr>
        <p:spPr>
          <a:xfrm>
            <a:off x="7946136" y="3657600"/>
            <a:ext cx="182880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A46F"/>
            </a:solidFill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2800" b="1" dirty="0">
                <a:solidFill>
                  <a:srgbClr val="BFA46F"/>
                </a:solidFill>
                <a:latin typeface="Calibri"/>
              </a:rPr>
              <a:t>200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003366"/>
                </a:solidFill>
                <a:latin typeface="Calibri"/>
              </a:rPr>
              <a:t>биотерминалов</a:t>
            </a:r>
          </a:p>
        </p:txBody>
      </p:sp>
      <p:sp>
        <p:nvSpPr>
          <p:cNvPr id="726" name="KP5"/>
          <p:cNvSpPr/>
          <p:nvPr/>
        </p:nvSpPr>
        <p:spPr>
          <a:xfrm>
            <a:off x="9829800" y="3657600"/>
            <a:ext cx="182880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A46F"/>
            </a:solidFill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2800" b="1" dirty="0">
                <a:solidFill>
                  <a:srgbClr val="BFA46F"/>
                </a:solidFill>
                <a:latin typeface="Calibri"/>
              </a:rPr>
              <a:t>15 000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003366"/>
                </a:solidFill>
                <a:latin typeface="Calibri"/>
              </a:rPr>
              <a:t>макс. векторов</a:t>
            </a:r>
          </a:p>
        </p:txBody>
      </p:sp>
      <p:sp>
        <p:nvSpPr>
          <p:cNvPr id="730" name="Partners"/>
          <p:cNvSpPr/>
          <p:nvPr/>
        </p:nvSpPr>
        <p:spPr>
          <a:xfrm>
            <a:off x="411480" y="5212080"/>
            <a:ext cx="11247120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BFA46F"/>
                </a:solidFill>
                <a:latin typeface="Calibri"/>
              </a:rPr>
              <a:t>ПАРТНЁРЫ ФЕДЕРАЛЬНОГО УРОВНЯ</a:t>
            </a:r>
          </a:p>
          <a:p>
            <a:r>
              <a:rPr lang="ru-RU" sz="1300" b="0" dirty="0">
                <a:solidFill>
                  <a:srgbClr val="003366"/>
                </a:solidFill>
                <a:latin typeface="Calibri"/>
              </a:rPr>
              <a:t>Минцифры России · Минтранс России · НСПК · Центр биометрических технологий ·</a:t>
            </a:r>
          </a:p>
          <a:p>
            <a:r>
              <a:rPr lang="ru-RU" sz="1300" b="0" dirty="0">
                <a:solidFill>
                  <a:srgbClr val="003366"/>
                </a:solidFill>
                <a:latin typeface="Calibri"/>
              </a:rPr>
              <a:t>Казанский метрополитен · Национальная библиотека Республики Татарстан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Header_8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2800" b="1" dirty="0">
                <a:solidFill>
                  <a:srgbClr val="FFFFFF"/>
                </a:solidFill>
                <a:latin typeface="Calibri"/>
              </a:rPr>
              <a:t>Задача 4. SWOT-анализ продвижения Face2</a:t>
            </a:r>
          </a:p>
        </p:txBody>
      </p:sp>
      <p:sp>
        <p:nvSpPr>
          <p:cNvPr id="280" name="PageNum_8"/>
          <p:cNvSpPr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pPr algn="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8 / 10</a:t>
            </a:r>
          </a:p>
        </p:txBody>
      </p:sp>
      <p:sp>
        <p:nvSpPr>
          <p:cNvPr id="810" name="SWOT0"/>
          <p:cNvSpPr/>
          <p:nvPr/>
        </p:nvSpPr>
        <p:spPr>
          <a:xfrm>
            <a:off x="411480" y="1188720"/>
            <a:ext cx="5577840" cy="2606040"/>
          </a:xfrm>
          <a:prstGeom prst="rect">
            <a:avLst/>
          </a:prstGeom>
          <a:solidFill>
            <a:srgbClr val="C6E0B4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006100"/>
                </a:solidFill>
                <a:latin typeface="Calibri"/>
              </a:rPr>
              <a:t>STRENGTHS — СИЛЬНЫЕ СТОРОНЫ</a:t>
            </a:r>
          </a:p>
          <a:p>
            <a:r>
              <a:rPr lang="ru-RU" sz="1300" b="0" dirty="0">
                <a:solidFill>
                  <a:srgbClr val="006100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Аккредитация КБС № 4-А</a:t>
            </a:r>
          </a:p>
          <a:p>
            <a:r>
              <a:rPr lang="ru-RU" sz="1300" b="0" dirty="0">
                <a:solidFill>
                  <a:srgbClr val="006100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Сертификация ФСБ / ФСТЭК</a:t>
            </a:r>
          </a:p>
          <a:p>
            <a:r>
              <a:rPr lang="ru-RU" sz="1300" b="0" dirty="0">
                <a:solidFill>
                  <a:srgbClr val="006100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Точность 99,5 %</a:t>
            </a:r>
          </a:p>
          <a:p>
            <a:r>
              <a:rPr lang="ru-RU" sz="1300" b="0" dirty="0">
                <a:solidFill>
                  <a:srgbClr val="006100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Рейтинг «A» и ESG-A</a:t>
            </a:r>
          </a:p>
          <a:p>
            <a:r>
              <a:rPr lang="ru-RU" sz="1300" b="0" dirty="0">
                <a:solidFill>
                  <a:srgbClr val="006100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Партнёры федерального уровня</a:t>
            </a:r>
          </a:p>
        </p:txBody>
      </p:sp>
      <p:sp>
        <p:nvSpPr>
          <p:cNvPr id="811" name="SWOT1"/>
          <p:cNvSpPr/>
          <p:nvPr/>
        </p:nvSpPr>
        <p:spPr>
          <a:xfrm>
            <a:off x="6080760" y="1188720"/>
            <a:ext cx="5577840" cy="260604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806000"/>
                </a:solidFill>
                <a:latin typeface="Calibri"/>
              </a:rPr>
              <a:t>WEAKNESSES — СЛАБЫЕ СТОРОНЫ</a:t>
            </a:r>
          </a:p>
          <a:p>
            <a:r>
              <a:rPr lang="ru-RU" sz="1300" b="0" dirty="0">
                <a:solidFill>
                  <a:srgbClr val="806000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Низкая узнаваемость вне РТ</a:t>
            </a:r>
          </a:p>
          <a:p>
            <a:r>
              <a:rPr lang="ru-RU" sz="1300" b="0" dirty="0">
                <a:solidFill>
                  <a:srgbClr val="806000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Слабое присутствие в деловых СМИ</a:t>
            </a:r>
          </a:p>
          <a:p>
            <a:r>
              <a:rPr lang="ru-RU" sz="1300" b="0" dirty="0">
                <a:solidFill>
                  <a:srgbClr val="806000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Нет публичной NIST-валидации</a:t>
            </a:r>
          </a:p>
          <a:p>
            <a:r>
              <a:rPr lang="ru-RU" sz="1300" b="0" dirty="0">
                <a:solidFill>
                  <a:srgbClr val="806000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Узкая партнёрская сеть</a:t>
            </a:r>
          </a:p>
        </p:txBody>
      </p:sp>
      <p:sp>
        <p:nvSpPr>
          <p:cNvPr id="812" name="SWOT2"/>
          <p:cNvSpPr/>
          <p:nvPr/>
        </p:nvSpPr>
        <p:spPr>
          <a:xfrm>
            <a:off x="411480" y="3886200"/>
            <a:ext cx="5577840" cy="26060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1F3864"/>
                </a:solidFill>
                <a:latin typeface="Calibri"/>
              </a:rPr>
              <a:t>OPPORTUNITIES — ВОЗМОЖНОСТИ</a:t>
            </a:r>
          </a:p>
          <a:p>
            <a:r>
              <a:rPr lang="ru-RU" sz="1300" b="0" dirty="0">
                <a:solidFill>
                  <a:srgbClr val="1F3864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Рынок × 9 за год</a:t>
            </a:r>
          </a:p>
          <a:p>
            <a:r>
              <a:rPr lang="ru-RU" sz="1300" b="0" dirty="0">
                <a:solidFill>
                  <a:srgbClr val="1F3864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Регуляторная зачистка локальных БС</a:t>
            </a:r>
          </a:p>
          <a:p>
            <a:r>
              <a:rPr lang="ru-RU" sz="1300" b="0" dirty="0">
                <a:solidFill>
                  <a:srgbClr val="1F3864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Запрос на отечественное ПО в B2G</a:t>
            </a:r>
          </a:p>
          <a:p>
            <a:r>
              <a:rPr lang="ru-RU" sz="1300" b="0" dirty="0">
                <a:solidFill>
                  <a:srgbClr val="1F3864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Новые сценарии (отель, возраст)</a:t>
            </a:r>
          </a:p>
        </p:txBody>
      </p:sp>
      <p:sp>
        <p:nvSpPr>
          <p:cNvPr id="813" name="SWOT3"/>
          <p:cNvSpPr/>
          <p:nvPr/>
        </p:nvSpPr>
        <p:spPr>
          <a:xfrm>
            <a:off x="6080760" y="3886200"/>
            <a:ext cx="5577840" cy="2606040"/>
          </a:xfrm>
          <a:prstGeom prst="rect">
            <a:avLst/>
          </a:prstGeom>
          <a:solidFill>
            <a:srgbClr val="F4B084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400" b="1" dirty="0">
                <a:solidFill>
                  <a:srgbClr val="8B1A1A"/>
                </a:solidFill>
                <a:latin typeface="Calibri"/>
              </a:rPr>
              <a:t>THREATS — УГРОЗЫ</a:t>
            </a:r>
          </a:p>
          <a:p>
            <a:r>
              <a:rPr lang="ru-RU" sz="1300" b="0" dirty="0">
                <a:solidFill>
                  <a:srgbClr val="8B1A1A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Сбер — 700 тыс. терминалов</a:t>
            </a:r>
          </a:p>
          <a:p>
            <a:r>
              <a:rPr lang="ru-RU" sz="1300" b="0" dirty="0">
                <a:solidFill>
                  <a:srgbClr val="8B1A1A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Конкуренция VL · NtechLab · OVISION</a:t>
            </a:r>
          </a:p>
          <a:p>
            <a:r>
              <a:rPr lang="ru-RU" sz="1300" b="0" dirty="0">
                <a:solidFill>
                  <a:srgbClr val="8B1A1A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B2B-цикл сделки 6–12 мес.</a:t>
            </a:r>
          </a:p>
          <a:p>
            <a:r>
              <a:rPr lang="ru-RU" sz="1300" b="0" dirty="0">
                <a:solidFill>
                  <a:srgbClr val="8B1A1A"/>
                </a:solidFill>
                <a:latin typeface="Calibri"/>
              </a:rPr>
              <a:t>• </a:t>
            </a:r>
            <a:r>
              <a:rPr lang="ru-RU" sz="1300" b="0" dirty="0">
                <a:solidFill>
                  <a:srgbClr val="003366"/>
                </a:solidFill>
                <a:latin typeface="Calibri"/>
              </a:rPr>
              <a:t>Репутационные риски от инцидентов</a:t>
            </a:r>
          </a:p>
        </p:txBody>
      </p:sp>
      <p:sp>
        <p:nvSpPr>
          <p:cNvPr id="820" name="SwotResult"/>
          <p:cNvSpPr/>
          <p:nvPr/>
        </p:nvSpPr>
        <p:spPr>
          <a:xfrm>
            <a:off x="411480" y="6565392"/>
            <a:ext cx="11247120" cy="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</p:txBody>
      </p:sp>
      <p:sp>
        <p:nvSpPr>
          <p:cNvPr id="821" name="SwotConclusion"/>
          <p:cNvSpPr/>
          <p:nvPr/>
        </p:nvSpPr>
        <p:spPr>
          <a:xfrm>
            <a:off x="411480" y="64008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200" b="1" dirty="0">
                <a:solidFill>
                  <a:srgbClr val="003366"/>
                </a:solidFill>
                <a:latin typeface="Calibri"/>
              </a:rPr>
              <a:t>ВЫВОД: технологический каркас укомплектован — коммуникационная составляющая отстаёт (управляемая проблема)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Header_9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2800" b="1" dirty="0">
                <a:solidFill>
                  <a:srgbClr val="FFFFFF"/>
                </a:solidFill>
                <a:latin typeface="Calibri"/>
              </a:rPr>
              <a:t>Задача 5. Стратегия продвижения Face2 на 2026–2028 гг.</a:t>
            </a:r>
          </a:p>
        </p:txBody>
      </p:sp>
      <p:sp>
        <p:nvSpPr>
          <p:cNvPr id="290" name="PageNum_9"/>
          <p:cNvSpPr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pPr algn="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9 / 10</a:t>
            </a:r>
          </a:p>
        </p:txBody>
      </p:sp>
      <p:sp>
        <p:nvSpPr>
          <p:cNvPr id="910" name="Frame"/>
          <p:cNvSpPr/>
          <p:nvPr/>
        </p:nvSpPr>
        <p:spPr>
          <a:xfrm>
            <a:off x="411480" y="1188720"/>
            <a:ext cx="685800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300" b="1" dirty="0">
                <a:solidFill>
                  <a:srgbClr val="BFA46F"/>
                </a:solidFill>
                <a:latin typeface="Calibri"/>
              </a:rPr>
              <a:t>СЕГМЕНТЫ (4):</a:t>
            </a:r>
          </a:p>
          <a:p>
            <a:r>
              <a:rPr lang="ru-RU" sz="1200" b="0" dirty="0">
                <a:solidFill>
                  <a:srgbClr val="003366"/>
                </a:solidFill>
                <a:latin typeface="Calibri"/>
              </a:rPr>
              <a:t>• Банки и МФО</a:t>
            </a:r>
          </a:p>
          <a:p>
            <a:r>
              <a:rPr lang="ru-RU" sz="1200" b="0" dirty="0">
                <a:solidFill>
                  <a:srgbClr val="003366"/>
                </a:solidFill>
                <a:latin typeface="Calibri"/>
              </a:rPr>
              <a:t>• Ритейл и транспорт</a:t>
            </a:r>
          </a:p>
          <a:p>
            <a:r>
              <a:rPr lang="ru-RU" sz="1200" b="0" dirty="0">
                <a:solidFill>
                  <a:srgbClr val="003366"/>
                </a:solidFill>
                <a:latin typeface="Calibri"/>
              </a:rPr>
              <a:t>• Государственные организации</a:t>
            </a:r>
          </a:p>
          <a:p>
            <a:r>
              <a:rPr lang="ru-RU" sz="1200" b="0" dirty="0">
                <a:solidFill>
                  <a:srgbClr val="003366"/>
                </a:solidFill>
                <a:latin typeface="Calibri"/>
              </a:rPr>
              <a:t>• B2C-аудитория Татарстана</a:t>
            </a:r>
          </a:p>
          <a:p>
            <a:r>
              <a:rPr lang="ru-RU" sz="6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r>
              <a:rPr lang="ru-RU" sz="1300" b="1" dirty="0">
                <a:solidFill>
                  <a:srgbClr val="BFA46F"/>
                </a:solidFill>
                <a:latin typeface="Calibri"/>
              </a:rPr>
              <a:t>ПОЗИЦИОНИРОВАНИЕ:</a:t>
            </a:r>
          </a:p>
          <a:p>
            <a:r>
              <a:rPr lang="ru-RU" sz="1300" b="1" dirty="0">
                <a:solidFill>
                  <a:srgbClr val="003366"/>
                </a:solidFill>
                <a:latin typeface="Calibri"/>
              </a:rPr>
              <a:t>«Аккредитованная КБС с соответствием 572-ФЗ из коробки»</a:t>
            </a:r>
          </a:p>
          <a:p>
            <a:r>
              <a:rPr lang="ru-RU" sz="600" b="0" dirty="0">
                <a:solidFill>
                  <a:srgbClr val="003366"/>
                </a:solidFill>
                <a:latin typeface="Calibri"/>
              </a:rPr>
              <a:t/>
            </a:r>
          </a:p>
          <a:p>
            <a:r>
              <a:rPr lang="ru-RU" sz="1300" b="1" dirty="0">
                <a:solidFill>
                  <a:srgbClr val="BFA46F"/>
                </a:solidFill>
                <a:latin typeface="Calibri"/>
              </a:rPr>
              <a:t>СТРУКТУРА БЮДЖЕТА — 186 млн ₽</a:t>
            </a:r>
          </a:p>
          <a:p>
            <a:r>
              <a:rPr lang="ru-RU" sz="1200" b="1" dirty="0">
                <a:solidFill>
                  <a:srgbClr val="003366"/>
                </a:solidFill>
                <a:latin typeface="Calibri"/>
              </a:rPr>
              <a:t>• 40 % — формирование доверия</a:t>
            </a:r>
          </a:p>
          <a:p>
            <a:r>
              <a:rPr lang="ru-RU" sz="1200" b="0" dirty="0">
                <a:solidFill>
                  <a:srgbClr val="003366"/>
                </a:solidFill>
                <a:latin typeface="Calibri"/>
              </a:rPr>
              <a:t>• 30 % — B2B-продажи и партнёрство</a:t>
            </a:r>
          </a:p>
          <a:p>
            <a:r>
              <a:rPr lang="ru-RU" sz="1200" b="0" dirty="0">
                <a:solidFill>
                  <a:srgbClr val="003366"/>
                </a:solidFill>
                <a:latin typeface="Calibri"/>
              </a:rPr>
              <a:t>• 20 % — демозоны и пилоты</a:t>
            </a:r>
          </a:p>
          <a:p>
            <a:r>
              <a:rPr lang="ru-RU" sz="1200" b="0" dirty="0">
                <a:solidFill>
                  <a:srgbClr val="003366"/>
                </a:solidFill>
                <a:latin typeface="Calibri"/>
              </a:rPr>
              <a:t>• 10 % — программы ранних пользователей</a:t>
            </a:r>
          </a:p>
        </p:txBody>
      </p:sp>
      <p:sp>
        <p:nvSpPr>
          <p:cNvPr id="920" name="EffectTitle"/>
          <p:cNvSpPr/>
          <p:nvPr/>
        </p:nvSpPr>
        <p:spPr>
          <a:xfrm>
            <a:off x="7498079" y="11887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200" b="1" dirty="0">
                <a:solidFill>
                  <a:srgbClr val="BFA46F"/>
                </a:solidFill>
                <a:latin typeface="Calibri"/>
              </a:rPr>
              <a:t>ЭКОНОМИЧЕСКИЙ ЭФФЕКТ ЗА 3 ГОДА</a:t>
            </a:r>
          </a:p>
        </p:txBody>
      </p:sp>
      <p:sp>
        <p:nvSpPr>
          <p:cNvPr id="921" name="Eff0"/>
          <p:cNvSpPr/>
          <p:nvPr/>
        </p:nvSpPr>
        <p:spPr>
          <a:xfrm>
            <a:off x="7498079" y="1645920"/>
            <a:ext cx="201168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3200" b="1" dirty="0">
                <a:solidFill>
                  <a:srgbClr val="BFA46F"/>
                </a:solidFill>
                <a:latin typeface="Calibri"/>
              </a:rPr>
              <a:t>832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млн ₽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выручка</a:t>
            </a:r>
          </a:p>
        </p:txBody>
      </p:sp>
      <p:sp>
        <p:nvSpPr>
          <p:cNvPr id="922" name="Eff1"/>
          <p:cNvSpPr/>
          <p:nvPr/>
        </p:nvSpPr>
        <p:spPr>
          <a:xfrm>
            <a:off x="9692639" y="1645920"/>
            <a:ext cx="201168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3200" b="1" dirty="0">
                <a:solidFill>
                  <a:srgbClr val="BFA46F"/>
                </a:solidFill>
                <a:latin typeface="Calibri"/>
              </a:rPr>
              <a:t>355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млн ₽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марж. эффект</a:t>
            </a:r>
          </a:p>
        </p:txBody>
      </p:sp>
      <p:sp>
        <p:nvSpPr>
          <p:cNvPr id="923" name="Eff2"/>
          <p:cNvSpPr/>
          <p:nvPr/>
        </p:nvSpPr>
        <p:spPr>
          <a:xfrm>
            <a:off x="7498079" y="3200400"/>
            <a:ext cx="201168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3200" b="1" dirty="0">
                <a:solidFill>
                  <a:srgbClr val="BFA46F"/>
                </a:solidFill>
                <a:latin typeface="Calibri"/>
              </a:rPr>
              <a:t>180 %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ROI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24" name="Eff3"/>
          <p:cNvSpPr/>
          <p:nvPr/>
        </p:nvSpPr>
        <p:spPr>
          <a:xfrm>
            <a:off x="9692639" y="3200400"/>
            <a:ext cx="201168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3200" b="1" dirty="0">
                <a:solidFill>
                  <a:srgbClr val="BFA46F"/>
                </a:solidFill>
                <a:latin typeface="Calibri"/>
              </a:rPr>
              <a:t>18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мес.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окупаемость</a:t>
            </a:r>
          </a:p>
        </p:txBody>
      </p:sp>
      <p:sp>
        <p:nvSpPr>
          <p:cNvPr id="930" name="RoadmapTitle"/>
          <p:cNvSpPr/>
          <p:nvPr/>
        </p:nvSpPr>
        <p:spPr>
          <a:xfrm>
            <a:off x="411480" y="45720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300" b="1" dirty="0">
                <a:solidFill>
                  <a:srgbClr val="BFA46F"/>
                </a:solidFill>
                <a:latin typeface="Calibri"/>
              </a:rPr>
              <a:t>ДОРОЖНАЯ КАРТА</a:t>
            </a:r>
          </a:p>
        </p:txBody>
      </p:sp>
      <p:sp>
        <p:nvSpPr>
          <p:cNvPr id="931" name="Road0"/>
          <p:cNvSpPr/>
          <p:nvPr/>
        </p:nvSpPr>
        <p:spPr>
          <a:xfrm>
            <a:off x="411480" y="5029200"/>
            <a:ext cx="27432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200" b="1" dirty="0">
                <a:solidFill>
                  <a:srgbClr val="BFA46F"/>
                </a:solidFill>
                <a:latin typeface="Calibri"/>
              </a:rPr>
              <a:t>2026 H1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Подготовительный</a:t>
            </a:r>
          </a:p>
        </p:txBody>
      </p:sp>
      <p:sp>
        <p:nvSpPr>
          <p:cNvPr id="932" name="Road1"/>
          <p:cNvSpPr/>
          <p:nvPr/>
        </p:nvSpPr>
        <p:spPr>
          <a:xfrm>
            <a:off x="3246120" y="5029200"/>
            <a:ext cx="2743200" cy="914400"/>
          </a:xfrm>
          <a:prstGeom prst="rect">
            <a:avLst/>
          </a:prstGeom>
          <a:solidFill>
            <a:srgbClr val="BFA46F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200" b="1" dirty="0">
                <a:solidFill>
                  <a:srgbClr val="FFFFFF"/>
                </a:solidFill>
                <a:latin typeface="Calibri"/>
              </a:rPr>
              <a:t>2026 H2 – 2027 H1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Пилотный (8–12 объектов)</a:t>
            </a:r>
          </a:p>
        </p:txBody>
      </p:sp>
      <p:sp>
        <p:nvSpPr>
          <p:cNvPr id="933" name="Road2"/>
          <p:cNvSpPr/>
          <p:nvPr/>
        </p:nvSpPr>
        <p:spPr>
          <a:xfrm>
            <a:off x="6080760" y="5029200"/>
            <a:ext cx="2743200" cy="914400"/>
          </a:xfrm>
          <a:prstGeom prst="rect">
            <a:avLst/>
          </a:prstGeom>
          <a:solidFill>
            <a:srgbClr val="BFA46F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200" b="1" dirty="0">
                <a:solidFill>
                  <a:srgbClr val="FFFFFF"/>
                </a:solidFill>
                <a:latin typeface="Calibri"/>
              </a:rPr>
              <a:t>2027 H2 – 2028 H2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Масштабирование (35–45)</a:t>
            </a:r>
          </a:p>
        </p:txBody>
      </p:sp>
      <p:sp>
        <p:nvSpPr>
          <p:cNvPr id="934" name="Road3"/>
          <p:cNvSpPr/>
          <p:nvPr/>
        </p:nvSpPr>
        <p:spPr>
          <a:xfrm>
            <a:off x="8915400" y="5029200"/>
            <a:ext cx="27432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200" b="1" dirty="0">
                <a:solidFill>
                  <a:srgbClr val="BFA46F"/>
                </a:solidFill>
                <a:latin typeface="Calibri"/>
              </a:rPr>
              <a:t>2028 H2</a:t>
            </a:r>
          </a:p>
          <a:p>
            <a:pPr algn="ctr">
              <a:buNone/>
            </a:pPr>
            <a:r>
              <a:rPr lang="ru-RU" sz="1100" b="0" dirty="0">
                <a:solidFill>
                  <a:srgbClr val="FFFFFF"/>
                </a:solidFill>
                <a:latin typeface="Calibri"/>
              </a:rPr>
              <a:t>Закрепление (≥ 60 внедрений)</a:t>
            </a:r>
          </a:p>
        </p:txBody>
      </p:sp>
      <p:sp>
        <p:nvSpPr>
          <p:cNvPr id="940" name="Disclaimer"/>
          <p:cNvSpPr/>
          <p:nvPr/>
        </p:nvSpPr>
        <p:spPr>
          <a:xfrm>
            <a:off x="411480" y="61264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000" b="0" dirty="0">
                <a:solidFill>
                  <a:srgbClr val="7F7F7F"/>
                </a:solidFill>
                <a:latin typeface="Calibri"/>
              </a:rPr>
              <a:t>Прогнозные оценки автора; ставка дисконтирования 18 %; уточняются с финансовым департаментом банка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Header_10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2800" b="1" dirty="0">
                <a:solidFill>
                  <a:srgbClr val="FFFFFF"/>
                </a:solidFill>
                <a:latin typeface="Calibri"/>
              </a:rPr>
              <a:t>Заключение</a:t>
            </a:r>
          </a:p>
        </p:txBody>
      </p:sp>
      <p:sp>
        <p:nvSpPr>
          <p:cNvPr id="300" name="PageNum_10"/>
          <p:cNvSpPr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pPr algn="r">
              <a:buNone/>
            </a:pPr>
            <a:r>
              <a:rPr lang="ru-RU" sz="1100" b="0" dirty="0">
                <a:solidFill>
                  <a:srgbClr val="7F7F7F"/>
                </a:solidFill>
                <a:latin typeface="Calibri"/>
              </a:rPr>
              <a:t>10 / 10</a:t>
            </a:r>
          </a:p>
        </p:txBody>
      </p:sp>
      <p:sp>
        <p:nvSpPr>
          <p:cNvPr id="1010" name="MainResult"/>
          <p:cNvSpPr/>
          <p:nvPr/>
        </p:nvSpPr>
        <p:spPr>
          <a:xfrm>
            <a:off x="1828800" y="1371600"/>
            <a:ext cx="850392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2200" b="1" dirty="0">
                <a:solidFill>
                  <a:srgbClr val="FFFFFF"/>
                </a:solidFill>
                <a:latin typeface="Calibri"/>
              </a:rPr>
              <a:t>✓ Цель работы достигнута</a:t>
            </a:r>
          </a:p>
          <a:p>
            <a:pPr algn="ctr">
              <a:buNone/>
            </a:pPr>
            <a:r>
              <a:rPr lang="ru-RU" sz="2200" b="1" dirty="0">
                <a:solidFill>
                  <a:srgbClr val="BFA46F"/>
                </a:solidFill>
                <a:latin typeface="Calibri"/>
              </a:rPr>
              <a:t>✓ Поставленные задачи решены</a:t>
            </a:r>
          </a:p>
        </p:txBody>
      </p:sp>
      <p:sp>
        <p:nvSpPr>
          <p:cNvPr id="1020" name="SignificanceTitle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1800" b="1" dirty="0">
                <a:solidFill>
                  <a:srgbClr val="BFA46F"/>
                </a:solidFill>
                <a:latin typeface="Calibri"/>
              </a:rPr>
              <a:t>ПРАКТИЧЕСКАЯ ЗНАЧИМОСТЬ</a:t>
            </a:r>
          </a:p>
        </p:txBody>
      </p:sp>
      <p:sp>
        <p:nvSpPr>
          <p:cNvPr id="1021" name="Sig0"/>
          <p:cNvSpPr/>
          <p:nvPr/>
        </p:nvSpPr>
        <p:spPr>
          <a:xfrm>
            <a:off x="1828800" y="329184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500" b="0" dirty="0">
                <a:solidFill>
                  <a:srgbClr val="003366"/>
                </a:solidFill>
                <a:latin typeface="Calibri"/>
              </a:rPr>
              <a:t>📋  </a:t>
            </a:r>
            <a:r>
              <a:rPr lang="ru-RU" sz="1500" b="0" dirty="0">
                <a:solidFill>
                  <a:srgbClr val="003366"/>
                </a:solidFill>
                <a:latin typeface="Calibri"/>
              </a:rPr>
              <a:t>Стратегия продвижения Face2 на 2026–2028 гг.</a:t>
            </a:r>
          </a:p>
        </p:txBody>
      </p:sp>
      <p:sp>
        <p:nvSpPr>
          <p:cNvPr id="1022" name="Sig1"/>
          <p:cNvSpPr/>
          <p:nvPr/>
        </p:nvSpPr>
        <p:spPr>
          <a:xfrm>
            <a:off x="1828800" y="374904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500" b="0" dirty="0">
                <a:solidFill>
                  <a:srgbClr val="003366"/>
                </a:solidFill>
                <a:latin typeface="Calibri"/>
              </a:rPr>
              <a:t>📊  </a:t>
            </a:r>
            <a:r>
              <a:rPr lang="ru-RU" sz="1500" b="0" dirty="0">
                <a:solidFill>
                  <a:srgbClr val="003366"/>
                </a:solidFill>
                <a:latin typeface="Calibri"/>
              </a:rPr>
              <a:t>Система KPI и расчёт экономического эффекта (ROI 180 %)</a:t>
            </a:r>
          </a:p>
        </p:txBody>
      </p:sp>
      <p:sp>
        <p:nvSpPr>
          <p:cNvPr id="1023" name="Sig2"/>
          <p:cNvSpPr/>
          <p:nvPr/>
        </p:nvSpPr>
        <p:spPr>
          <a:xfrm>
            <a:off x="1828800" y="420624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500" b="0" dirty="0">
                <a:solidFill>
                  <a:srgbClr val="003366"/>
                </a:solidFill>
                <a:latin typeface="Calibri"/>
              </a:rPr>
              <a:t>⚠  </a:t>
            </a:r>
            <a:r>
              <a:rPr lang="ru-RU" sz="1500" b="0" dirty="0">
                <a:solidFill>
                  <a:srgbClr val="003366"/>
                </a:solidFill>
                <a:latin typeface="Calibri"/>
              </a:rPr>
              <a:t>Матрица рисков с мерами их снижения</a:t>
            </a:r>
          </a:p>
        </p:txBody>
      </p:sp>
      <p:sp>
        <p:nvSpPr>
          <p:cNvPr id="1024" name="Sig3"/>
          <p:cNvSpPr/>
          <p:nvPr/>
        </p:nvSpPr>
        <p:spPr>
          <a:xfrm>
            <a:off x="1828800" y="466344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r>
              <a:rPr lang="ru-RU" sz="1500" b="0" dirty="0">
                <a:solidFill>
                  <a:srgbClr val="003366"/>
                </a:solidFill>
                <a:latin typeface="Calibri"/>
              </a:rPr>
              <a:t>👥  </a:t>
            </a:r>
            <a:r>
              <a:rPr lang="ru-RU" sz="1500" b="0" dirty="0">
                <a:solidFill>
                  <a:srgbClr val="003366"/>
                </a:solidFill>
                <a:latin typeface="Calibri"/>
              </a:rPr>
              <a:t>Организационный план внедрения мероприятий</a:t>
            </a:r>
          </a:p>
        </p:txBody>
      </p:sp>
      <p:sp>
        <p:nvSpPr>
          <p:cNvPr id="1030" name="Thanks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 lIns="91440" tIns="91440" rIns="91440" bIns="91440"/>
          <a:lstStyle/>
          <a:p>
            <a:pPr algn="ctr">
              <a:buNone/>
            </a:pPr>
            <a:r>
              <a:rPr lang="ru-RU" sz="4000" b="1" dirty="0">
                <a:solidFill>
                  <a:srgbClr val="BFA46F"/>
                </a:solidFill>
                <a:latin typeface="Calibri"/>
              </a:rPr>
              <a:t>СПАСИБО ЗА ВНИМАНИЕ</a:t>
            </a:r>
          </a:p>
          <a:p>
            <a:pPr algn="ctr">
              <a:buNone/>
            </a:pPr>
            <a:r>
              <a:rPr lang="ru-RU" sz="1400" b="0" dirty="0">
                <a:solidFill>
                  <a:srgbClr val="003366"/>
                </a:solidFill>
                <a:latin typeface="Calibri"/>
              </a:rPr>
              <a:t>Готова ответить на вопросы комиссии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KR Theme">
  <a:themeElements>
    <a:clrScheme name="VKR">
      <a:dk1>
        <a:srgbClr val="000000"/>
      </a:dk1>
      <a:lt1>
        <a:srgbClr val="FFFFFF"/>
      </a:lt1>
      <a:dk2>
        <a:srgbClr val="003366"/>
      </a:dk2>
      <a:lt2>
        <a:srgbClr val="EEECE1"/>
      </a:lt2>
      <a:accent1>
        <a:srgbClr val="003366"/>
      </a:accent1>
      <a:accent2>
        <a:srgbClr val="BFA46F"/>
      </a:accent2>
      <a:accent3>
        <a:srgbClr val="00B050"/>
      </a:accent3>
      <a:accent4>
        <a:srgbClr val="C00000"/>
      </a:accent4>
      <a:accent5>
        <a:srgbClr val="BDD7EE"/>
      </a:accent5>
      <a:accent6>
        <a:srgbClr val="C6E0B4"/>
      </a:accent6>
      <a:hlink>
        <a:srgbClr val="0000FF"/>
      </a:hlink>
      <a:folHlink>
        <a:srgbClr val="800080"/>
      </a:folHlink>
    </a:clrScheme>
    <a:fontScheme name="VK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VK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0</TotalTime>
  <Words>0</Words>
  <Application>VKR Builder</Application>
  <Slides>10</Slides>
  <Notes>0</Notes>
  <HiddenSlides>0</HiddenSlides>
  <MMClips>0</MMClip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ВКР: Стратегия продвижения Face2 АК Барс Банк</dc:title>
  <dc:creator>Студент(ка) ВКР</dc:creator>
  <cp:lastModifiedBy>VKR Author</cp:lastModifiedBy>
  <dcterms:created xsi:type="dcterms:W3CDTF">2026-05-24T12:00:00Z</dcterms:created>
  <dcterms:modified xsi:type="dcterms:W3CDTF">2026-05-24T12:00:00Z</dcterms:modified>
</cp:coreProperties>
</file>